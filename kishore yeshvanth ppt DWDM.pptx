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70" r:id="rId11"/>
    <p:sldId id="272" r:id="rId12"/>
    <p:sldId id="273" r:id="rId13"/>
    <p:sldId id="263" r:id="rId14"/>
    <p:sldId id="271" r:id="rId15"/>
    <p:sldId id="264" r:id="rId16"/>
    <p:sldId id="265" r:id="rId17"/>
    <p:sldId id="266" r:id="rId18"/>
    <p:sldId id="267" r:id="rId19"/>
    <p:sldId id="268"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3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0" name="Google Shape;9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8" name="Google Shape;98;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6" name="Google Shape;106;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4" name="Google Shape;114;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22" name="Google Shape;122;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0" name="Google Shape;130;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8" name="Google Shape;138;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8" name="Google Shape;148;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6" name="Google Shape;156;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4" name="Google Shape;164;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2" name="Google Shape;172;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p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0" name="Google Shape;180;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5"/>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5"/>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5"/>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0" name="Google Shape;20;p16"/>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6"/>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17"/>
          <p:cNvSpPr txBox="1"/>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panose="020F0502020204030204"/>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17"/>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7"/>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18"/>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2" name="Google Shape;32;p18"/>
          <p:cNvSpPr txBox="1"/>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3" name="Google Shape;33;p18"/>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19"/>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panose="020F050202020403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39" name="Google Shape;39;p19"/>
          <p:cNvSpPr txBox="1"/>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0" name="Google Shape;40;p19"/>
          <p:cNvSpPr txBox="1"/>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1" name="Google Shape;41;p19"/>
          <p:cNvSpPr txBox="1"/>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2" name="Google Shape;42;p19"/>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20"/>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0"/>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21"/>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22"/>
          <p:cNvSpPr txBox="1"/>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22"/>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p:nvPr>
            <p:ph type="pic" idx="2"/>
          </p:nvPr>
        </p:nvSpPr>
        <p:spPr>
          <a:xfrm>
            <a:off x="2389717" y="612775"/>
            <a:ext cx="7315200" cy="4114800"/>
          </a:xfrm>
          <a:prstGeom prst="rect">
            <a:avLst/>
          </a:prstGeom>
          <a:noFill/>
          <a:ln>
            <a:noFill/>
          </a:ln>
        </p:spPr>
      </p:sp>
      <p:sp>
        <p:nvSpPr>
          <p:cNvPr id="64" name="Google Shape;64;p23"/>
          <p:cNvSpPr txBox="1"/>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3"/>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4"/>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5"/>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4"/>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4"/>
          <p:cNvSpPr txBox="1"/>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4"/>
          <p:cNvSpPr txBox="1"/>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4"/>
          <p:cNvSpPr txBox="1"/>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4"/>
          <p:cNvSpPr txBox="1"/>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
          <p:cNvSpPr txBox="1"/>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IN" altLang="en-US" sz="2700" b="1" dirty="0">
                <a:solidFill>
                  <a:schemeClr val="tx1"/>
                </a:solidFill>
                <a:highlight>
                  <a:schemeClr val="lt1"/>
                </a:highlight>
                <a:latin typeface="Times New Roman" panose="02020603050405020304" charset="0"/>
                <a:ea typeface="Barlow Bold" pitchFamily="34" charset="-122"/>
                <a:cs typeface="Times New Roman" panose="02020603050405020304" charset="0"/>
                <a:sym typeface="+mn-ea"/>
              </a:rPr>
              <a:t>“</a:t>
            </a:r>
            <a:r>
              <a:rPr lang="en-US" altLang="en-US" sz="2700" b="1" dirty="0">
                <a:solidFill>
                  <a:schemeClr val="tx1"/>
                </a:solidFill>
                <a:highlight>
                  <a:schemeClr val="lt1"/>
                </a:highlight>
                <a:latin typeface="Times New Roman" panose="02020603050405020304" charset="0"/>
                <a:ea typeface="Barlow Bold" pitchFamily="34" charset="-122"/>
                <a:cs typeface="Times New Roman" panose="02020603050405020304" charset="0"/>
                <a:sym typeface="+mn-ea"/>
              </a:rPr>
              <a:t>FRAUD DETECTION SYSTEM USING DATA MINING ON FINANCIAL DATA WAREHOUSE</a:t>
            </a:r>
            <a:r>
              <a:rPr lang="en-IN" altLang="en-US" sz="2700" b="1" dirty="0">
                <a:solidFill>
                  <a:schemeClr val="tx1"/>
                </a:solidFill>
                <a:highlight>
                  <a:schemeClr val="lt1"/>
                </a:highlight>
                <a:latin typeface="Times New Roman" panose="02020603050405020304" charset="0"/>
                <a:ea typeface="Barlow Bold" pitchFamily="34" charset="-122"/>
                <a:cs typeface="Times New Roman" panose="02020603050405020304" charset="0"/>
                <a:sym typeface="+mn-ea"/>
              </a:rPr>
              <a:t>”</a:t>
            </a:r>
            <a:endParaRPr lang="en-IN" altLang="en-US" sz="2700" b="1" dirty="0">
              <a:solidFill>
                <a:schemeClr val="tx1"/>
              </a:solidFill>
              <a:highlight>
                <a:schemeClr val="lt1"/>
              </a:highlight>
              <a:latin typeface="Times New Roman" panose="02020603050405020304" charset="0"/>
              <a:ea typeface="Barlow Bold" pitchFamily="34" charset="-122"/>
              <a:cs typeface="Times New Roman" panose="02020603050405020304" charset="0"/>
              <a:sym typeface="+mn-ea"/>
            </a:endParaRPr>
          </a:p>
        </p:txBody>
      </p:sp>
      <p:sp>
        <p:nvSpPr>
          <p:cNvPr id="85" name="Google Shape;85;p1"/>
          <p:cNvSpPr txBox="1"/>
          <p:nvPr>
            <p:ph type="subTitle" idx="1"/>
          </p:nvPr>
        </p:nvSpPr>
        <p:spPr>
          <a:xfrm>
            <a:off x="1828800" y="3405505"/>
            <a:ext cx="8686165" cy="2663190"/>
          </a:xfrm>
          <a:prstGeom prst="rect">
            <a:avLst/>
          </a:prstGeom>
          <a:noFill/>
          <a:ln>
            <a:noFill/>
          </a:ln>
        </p:spPr>
        <p:txBody>
          <a:bodyPr spcFirstLastPara="1" wrap="square" lIns="91425" tIns="45700" rIns="91425" bIns="45700" anchor="t" anchorCtr="0">
            <a:normAutofit fontScale="70000"/>
          </a:bodyPr>
          <a:lstStyle/>
          <a:p>
            <a:pPr marL="0" lvl="0" indent="0" algn="ctr" rtl="0">
              <a:lnSpc>
                <a:spcPct val="100000"/>
              </a:lnSpc>
              <a:spcBef>
                <a:spcPts val="0"/>
              </a:spcBef>
              <a:spcAft>
                <a:spcPts val="0"/>
              </a:spcAft>
              <a:buClr>
                <a:srgbClr val="888888"/>
              </a:buClr>
              <a:buSzPct val="100000"/>
              <a:buNone/>
            </a:pPr>
            <a:r>
              <a:rPr lang="en-US"/>
              <a:t>Presented by: </a:t>
            </a:r>
            <a:endParaRPr lang="en-US"/>
          </a:p>
          <a:p>
            <a:pPr marL="0" lvl="0" indent="0" algn="ctr" rtl="0">
              <a:lnSpc>
                <a:spcPct val="100000"/>
              </a:lnSpc>
              <a:spcBef>
                <a:spcPts val="545"/>
              </a:spcBef>
              <a:spcAft>
                <a:spcPts val="0"/>
              </a:spcAft>
              <a:buClr>
                <a:srgbClr val="888888"/>
              </a:buClr>
              <a:buSzPct val="100000"/>
              <a:buNone/>
            </a:pPr>
            <a:r>
              <a:rPr lang="en-US"/>
              <a:t>Yeshvanth ram 192311397</a:t>
            </a:r>
            <a:endParaRPr lang="en-US"/>
          </a:p>
          <a:p>
            <a:pPr marL="0" lvl="0" indent="0" algn="ctr" rtl="0">
              <a:lnSpc>
                <a:spcPct val="100000"/>
              </a:lnSpc>
              <a:spcBef>
                <a:spcPts val="545"/>
              </a:spcBef>
              <a:spcAft>
                <a:spcPts val="0"/>
              </a:spcAft>
              <a:buClr>
                <a:srgbClr val="888888"/>
              </a:buClr>
              <a:buSzPct val="100000"/>
              <a:buNone/>
            </a:pPr>
            <a:r>
              <a:rPr lang="en-IN" altLang="en-US"/>
              <a:t>Pon Kishore 192324271</a:t>
            </a:r>
            <a:endParaRPr lang="en-US"/>
          </a:p>
          <a:p>
            <a:pPr marL="0" lvl="0" indent="0" algn="ctr" rtl="0">
              <a:lnSpc>
                <a:spcPct val="100000"/>
              </a:lnSpc>
              <a:spcBef>
                <a:spcPts val="545"/>
              </a:spcBef>
              <a:spcAft>
                <a:spcPts val="0"/>
              </a:spcAft>
              <a:buClr>
                <a:srgbClr val="888888"/>
              </a:buClr>
              <a:buSzPct val="100000"/>
              <a:buNone/>
            </a:pPr>
            <a:r>
              <a:rPr lang="en-IN" altLang="en-US">
                <a:sym typeface="+mn-ea"/>
              </a:rPr>
              <a:t>Data Warehouse and Data Mining For Clusters</a:t>
            </a:r>
            <a:endParaRPr lang="en-US" altLang="en-US"/>
          </a:p>
          <a:p>
            <a:pPr marL="0" lvl="0" indent="0" algn="ctr" rtl="0">
              <a:lnSpc>
                <a:spcPct val="100000"/>
              </a:lnSpc>
              <a:spcBef>
                <a:spcPts val="545"/>
              </a:spcBef>
              <a:spcAft>
                <a:spcPts val="0"/>
              </a:spcAft>
              <a:buClr>
                <a:srgbClr val="888888"/>
              </a:buClr>
              <a:buSzPct val="100000"/>
              <a:buNone/>
            </a:pPr>
            <a:r>
              <a:rPr lang="en-US" altLang="en-US">
                <a:sym typeface="+mn-ea"/>
              </a:rPr>
              <a:t>(CSA</a:t>
            </a:r>
            <a:r>
              <a:rPr lang="en-IN" altLang="en-US">
                <a:sym typeface="+mn-ea"/>
              </a:rPr>
              <a:t>1640</a:t>
            </a:r>
            <a:r>
              <a:rPr lang="en-US" altLang="en-US">
                <a:sym typeface="+mn-ea"/>
              </a:rPr>
              <a:t>)</a:t>
            </a:r>
            <a:endParaRPr lang="en-US" altLang="en-US">
              <a:sym typeface="+mn-ea"/>
            </a:endParaRPr>
          </a:p>
          <a:p>
            <a:pPr marL="0" lvl="0" indent="0" algn="ctr" rtl="0">
              <a:lnSpc>
                <a:spcPct val="100000"/>
              </a:lnSpc>
              <a:spcBef>
                <a:spcPts val="545"/>
              </a:spcBef>
              <a:spcAft>
                <a:spcPts val="0"/>
              </a:spcAft>
              <a:buClr>
                <a:srgbClr val="888888"/>
              </a:buClr>
              <a:buSzPct val="100000"/>
              <a:buNone/>
            </a:pPr>
            <a:r>
              <a:rPr lang="en-US"/>
              <a:t>Date: </a:t>
            </a:r>
            <a:r>
              <a:rPr lang="en-IN" altLang="en-US"/>
              <a:t>28</a:t>
            </a:r>
            <a:r>
              <a:rPr lang="en-US"/>
              <a:t>-0</a:t>
            </a:r>
            <a:r>
              <a:rPr lang="en-IN" altLang="en-US"/>
              <a:t>1</a:t>
            </a:r>
            <a:r>
              <a:rPr lang="en-US"/>
              <a:t>-202</a:t>
            </a:r>
            <a:r>
              <a:rPr lang="en-IN" altLang="en-US"/>
              <a:t>6</a:t>
            </a:r>
            <a:endParaRPr lang="en-IN" altLang="en-US"/>
          </a:p>
        </p:txBody>
      </p:sp>
      <p:pic>
        <p:nvPicPr>
          <p:cNvPr id="86" name="Google Shape;86;p1"/>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87" name="Google Shape;87;p1"/>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2"/>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Introduction</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2"/>
          <p:cNvSpPr txBox="1"/>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0"/>
              </a:spcAft>
              <a:buClr>
                <a:schemeClr val="dk1"/>
              </a:buClr>
              <a:buSzPts val="1100"/>
              <a:buFont typeface="Arial" panose="020B0604020202020204"/>
              <a:buNone/>
            </a:pPr>
            <a:r>
              <a:rPr lang="en-US" altLang="en-US" sz="2000" b="1">
                <a:highlight>
                  <a:schemeClr val="lt1"/>
                </a:highlight>
                <a:latin typeface="Times New Roman" panose="02020603050405020304"/>
                <a:ea typeface="Times New Roman" panose="02020603050405020304"/>
                <a:cs typeface="Times New Roman" panose="02020603050405020304"/>
                <a:sym typeface="Times New Roman" panose="02020603050405020304"/>
              </a:rPr>
              <a:t>Problem Statement:</a:t>
            </a:r>
            <a:endParaRPr lang="en-US" altLang="en-US" sz="2000" b="1">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342900" lvl="0" algn="l" rtl="0">
              <a:lnSpc>
                <a:spcPct val="115000"/>
              </a:lnSpc>
              <a:spcBef>
                <a:spcPts val="600"/>
              </a:spcBef>
              <a:spcAft>
                <a:spcPts val="0"/>
              </a:spcAft>
              <a:buClr>
                <a:schemeClr val="dk1"/>
              </a:buClr>
              <a:buSzPts val="1100"/>
            </a:pPr>
            <a:r>
              <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rPr>
              <a:t>Financial fraud is a major issue in banking and financial institutions, causing huge monetary losses every year.</a:t>
            </a:r>
            <a:endPar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342900" lvl="0" algn="l" rtl="0">
              <a:lnSpc>
                <a:spcPct val="115000"/>
              </a:lnSpc>
              <a:spcBef>
                <a:spcPts val="600"/>
              </a:spcBef>
              <a:spcAft>
                <a:spcPts val="0"/>
              </a:spcAft>
              <a:buClr>
                <a:schemeClr val="dk1"/>
              </a:buClr>
              <a:buSzPts val="1100"/>
            </a:pPr>
            <a:r>
              <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rPr>
              <a:t> Traditional fraud detection methods rely on manual verification and rule-based systems, which are slow, inefficient, and unable to detect complex fraud patterns in large datasets.</a:t>
            </a:r>
            <a:endPar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342900" lvl="0" algn="l" rtl="0">
              <a:lnSpc>
                <a:spcPct val="115000"/>
              </a:lnSpc>
              <a:spcBef>
                <a:spcPts val="600"/>
              </a:spcBef>
              <a:spcAft>
                <a:spcPts val="0"/>
              </a:spcAft>
              <a:buClr>
                <a:schemeClr val="dk1"/>
              </a:buClr>
              <a:buSzPts val="1100"/>
            </a:pPr>
            <a:r>
              <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rPr>
              <a:t> With the increasing volume of financial transactions, there is a need for an automated, intelligent, and real-time fraud detection system.</a:t>
            </a:r>
            <a:endPar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600"/>
              </a:spcBef>
              <a:spcAft>
                <a:spcPts val="0"/>
              </a:spcAft>
              <a:buClr>
                <a:schemeClr val="dk1"/>
              </a:buClr>
              <a:buSzPts val="1100"/>
              <a:buFont typeface="Arial" panose="020B0604020202020204"/>
              <a:buNone/>
            </a:pPr>
            <a:r>
              <a:rPr lang="en-US" altLang="en-US" sz="2000" b="1">
                <a:highlight>
                  <a:schemeClr val="lt1"/>
                </a:highlight>
                <a:latin typeface="Times New Roman" panose="02020603050405020304"/>
                <a:ea typeface="Times New Roman" panose="02020603050405020304"/>
                <a:cs typeface="Times New Roman" panose="02020603050405020304"/>
                <a:sym typeface="Times New Roman" panose="02020603050405020304"/>
              </a:rPr>
              <a:t>Solution Overview:</a:t>
            </a:r>
            <a:endParaRPr lang="en-US" altLang="en-US" sz="2000" b="1">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285750" lvl="0" indent="-285750" algn="l" rtl="0">
              <a:lnSpc>
                <a:spcPct val="115000"/>
              </a:lnSpc>
              <a:spcBef>
                <a:spcPts val="600"/>
              </a:spcBef>
              <a:spcAft>
                <a:spcPts val="0"/>
              </a:spcAft>
              <a:buClr>
                <a:schemeClr val="dk1"/>
              </a:buClr>
              <a:buSzPts val="1100"/>
            </a:pPr>
            <a:r>
              <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rPr>
              <a:t>The Fraud Detection System using Data Mining analyzes financial transaction data stored in a data warehouse to identify suspicious and fraudulent activities. </a:t>
            </a:r>
            <a:endPar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285750" lvl="0" indent="-285750" algn="l" rtl="0">
              <a:lnSpc>
                <a:spcPct val="115000"/>
              </a:lnSpc>
              <a:spcBef>
                <a:spcPts val="600"/>
              </a:spcBef>
              <a:spcAft>
                <a:spcPts val="0"/>
              </a:spcAft>
              <a:buClr>
                <a:schemeClr val="dk1"/>
              </a:buClr>
              <a:buSzPts val="1100"/>
            </a:pPr>
            <a:r>
              <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rPr>
              <a:t>Using data mining techniques such as classification, clustering, and anomaly detection, the system detects unusual transaction patterns and alerts administrators. </a:t>
            </a:r>
            <a:endPar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285750" lvl="0" indent="-285750" algn="l" rtl="0">
              <a:lnSpc>
                <a:spcPct val="115000"/>
              </a:lnSpc>
              <a:spcBef>
                <a:spcPts val="600"/>
              </a:spcBef>
              <a:spcAft>
                <a:spcPts val="0"/>
              </a:spcAft>
              <a:buClr>
                <a:schemeClr val="dk1"/>
              </a:buClr>
              <a:buSzPts val="1100"/>
            </a:pPr>
            <a:r>
              <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rPr>
              <a:t>This improves security, reduces financial loss, and enhances fraud prevention efficiency.</a:t>
            </a:r>
            <a:endParaRPr lang="en-US" altLang="en-US" sz="2000">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p:txBody>
      </p:sp>
      <p:pic>
        <p:nvPicPr>
          <p:cNvPr id="94" name="Google Shape;94;p2"/>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95" name="Google Shape;95;p2"/>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3"/>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Objectives</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 name="Google Shape;101;p3"/>
          <p:cNvSpPr txBox="1"/>
          <p:nvPr>
            <p:ph type="body" idx="1"/>
          </p:nvPr>
        </p:nvSpPr>
        <p:spPr>
          <a:xfrm>
            <a:off x="250000" y="1638726"/>
            <a:ext cx="10972800" cy="4526100"/>
          </a:xfrm>
          <a:prstGeom prst="rect">
            <a:avLst/>
          </a:prstGeom>
          <a:noFill/>
          <a:ln>
            <a:noFill/>
          </a:ln>
        </p:spPr>
        <p:txBody>
          <a:bodyPr spcFirstLastPara="1" wrap="square" lIns="91425" tIns="45700" rIns="91425" bIns="45700" anchor="t" anchorCtr="0">
            <a:noAutofit/>
          </a:bodyPr>
          <a:lstStyle/>
          <a:p>
            <a:pPr marL="342900" lvl="0" indent="0" algn="l" rtl="0">
              <a:lnSpc>
                <a:spcPct val="100000"/>
              </a:lnSpc>
              <a:spcBef>
                <a:spcPts val="1200"/>
              </a:spcBef>
              <a:spcAft>
                <a:spcPts val="0"/>
              </a:spcAft>
              <a:buSzPts val="1800"/>
              <a:buNone/>
            </a:pPr>
            <a:r>
              <a:rPr lang="en-US" altLang="en-US" sz="1800" b="1">
                <a:latin typeface="Times New Roman" panose="02020603050405020304" charset="0"/>
                <a:cs typeface="Times New Roman" panose="02020603050405020304" charset="0"/>
              </a:rPr>
              <a:t>Primary Objective:</a:t>
            </a:r>
            <a:endParaRPr lang="en-US" altLang="en-US" sz="1800" b="1">
              <a:latin typeface="Times New Roman" panose="02020603050405020304" charset="0"/>
              <a:cs typeface="Times New Roman" panose="02020603050405020304" charset="0"/>
            </a:endParaRPr>
          </a:p>
          <a:p>
            <a:pPr marL="685800" lvl="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design and implement a fraud detection system using data mining techniques on financial data warehouse.</a:t>
            </a:r>
            <a:endParaRPr lang="en-US" altLang="en-US" sz="2000">
              <a:latin typeface="Times New Roman" panose="02020603050405020304" charset="0"/>
              <a:cs typeface="Times New Roman" panose="02020603050405020304" charset="0"/>
            </a:endParaRPr>
          </a:p>
          <a:p>
            <a:pPr marL="342900" lvl="0" indent="0" algn="l" rtl="0">
              <a:lnSpc>
                <a:spcPct val="100000"/>
              </a:lnSpc>
              <a:spcBef>
                <a:spcPts val="1200"/>
              </a:spcBef>
              <a:spcAft>
                <a:spcPts val="0"/>
              </a:spcAft>
              <a:buSzPts val="1800"/>
              <a:buNone/>
            </a:pPr>
            <a:r>
              <a:rPr lang="en-US" altLang="en-US" sz="2000" b="1">
                <a:latin typeface="Times New Roman" panose="02020603050405020304" charset="0"/>
                <a:cs typeface="Times New Roman" panose="02020603050405020304" charset="0"/>
              </a:rPr>
              <a:t>Specific Objectives:</a:t>
            </a:r>
            <a:endParaRPr lang="en-US" altLang="en-US" sz="2000" b="1">
              <a:latin typeface="Times New Roman" panose="02020603050405020304" charset="0"/>
              <a:cs typeface="Times New Roman" panose="02020603050405020304" charset="0"/>
            </a:endParaRPr>
          </a:p>
          <a:p>
            <a:pPr marL="628650" lvl="0" indent="-28575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collect and store financial transaction data in a data warehouse</a:t>
            </a:r>
            <a:endParaRPr lang="en-US" altLang="en-US" sz="2000">
              <a:latin typeface="Times New Roman" panose="02020603050405020304" charset="0"/>
              <a:cs typeface="Times New Roman" panose="02020603050405020304" charset="0"/>
            </a:endParaRPr>
          </a:p>
          <a:p>
            <a:pPr marL="628650" lvl="0" indent="-28575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preprocess and clean financial datasets</a:t>
            </a:r>
            <a:endParaRPr lang="en-US" altLang="en-US" sz="2000">
              <a:latin typeface="Times New Roman" panose="02020603050405020304" charset="0"/>
              <a:cs typeface="Times New Roman" panose="02020603050405020304" charset="0"/>
            </a:endParaRPr>
          </a:p>
          <a:p>
            <a:pPr marL="628650" lvl="0" indent="-28575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apply data mining algorithms for fraud detection</a:t>
            </a:r>
            <a:endParaRPr lang="en-US" altLang="en-US" sz="2000">
              <a:latin typeface="Times New Roman" panose="02020603050405020304" charset="0"/>
              <a:cs typeface="Times New Roman" panose="02020603050405020304" charset="0"/>
            </a:endParaRPr>
          </a:p>
          <a:p>
            <a:pPr marL="628650" lvl="0" indent="-28575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identify abnormal and suspicious transaction patterns</a:t>
            </a:r>
            <a:endParaRPr lang="en-US" altLang="en-US" sz="2000">
              <a:latin typeface="Times New Roman" panose="02020603050405020304" charset="0"/>
              <a:cs typeface="Times New Roman" panose="02020603050405020304" charset="0"/>
            </a:endParaRPr>
          </a:p>
          <a:p>
            <a:pPr marL="628650" lvl="0" indent="-28575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improve fraud detection accuracy and reduce false alarms</a:t>
            </a:r>
            <a:endParaRPr lang="en-US" altLang="en-US" sz="2000">
              <a:latin typeface="Times New Roman" panose="02020603050405020304" charset="0"/>
              <a:cs typeface="Times New Roman" panose="02020603050405020304" charset="0"/>
            </a:endParaRPr>
          </a:p>
          <a:p>
            <a:pPr marL="628650" lvl="0" indent="-285750" algn="l" rtl="0">
              <a:lnSpc>
                <a:spcPct val="100000"/>
              </a:lnSpc>
              <a:spcBef>
                <a:spcPts val="1200"/>
              </a:spcBef>
              <a:spcAft>
                <a:spcPts val="0"/>
              </a:spcAft>
              <a:buSzPts val="1800"/>
            </a:pPr>
            <a:r>
              <a:rPr lang="en-US" altLang="en-US" sz="2000">
                <a:latin typeface="Times New Roman" panose="02020603050405020304" charset="0"/>
                <a:cs typeface="Times New Roman" panose="02020603050405020304" charset="0"/>
              </a:rPr>
              <a:t>To provide real-time fraud alerts and reporting</a:t>
            </a:r>
            <a:endParaRPr lang="en-US" altLang="en-US" sz="2000">
              <a:latin typeface="Times New Roman" panose="02020603050405020304" charset="0"/>
              <a:cs typeface="Times New Roman" panose="02020603050405020304" charset="0"/>
            </a:endParaRPr>
          </a:p>
        </p:txBody>
      </p:sp>
      <p:pic>
        <p:nvPicPr>
          <p:cNvPr id="102" name="Google Shape;102;p3"/>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03" name="Google Shape;103;p3"/>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4"/>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Literature Review / Background</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9" name="Google Shape;109;p4"/>
          <p:cNvSpPr txBox="1"/>
          <p:nvPr>
            <p:ph type="body" idx="1"/>
          </p:nvPr>
        </p:nvSpPr>
        <p:spPr>
          <a:xfrm>
            <a:off x="609600" y="1600200"/>
            <a:ext cx="11154410" cy="4667885"/>
          </a:xfrm>
          <a:prstGeom prst="rect">
            <a:avLst/>
          </a:prstGeom>
          <a:noFill/>
          <a:ln>
            <a:noFill/>
          </a:ln>
        </p:spPr>
        <p:txBody>
          <a:bodyPr spcFirstLastPara="1" wrap="square" lIns="91425" tIns="45700" rIns="91425" bIns="45700" anchor="t" anchorCtr="0">
            <a:noAutofit/>
          </a:bodyPr>
          <a:lstStyle/>
          <a:p>
            <a:pPr marL="342900" lvl="0" indent="0" algn="l" rtl="0">
              <a:lnSpc>
                <a:spcPct val="100000"/>
              </a:lnSpc>
              <a:spcBef>
                <a:spcPts val="640"/>
              </a:spcBef>
              <a:spcAft>
                <a:spcPts val="0"/>
              </a:spcAft>
              <a:buSzPts val="1800"/>
              <a:buNone/>
            </a:pPr>
            <a:r>
              <a:rPr lang="en-US" altLang="en-US" sz="1800" b="1">
                <a:latin typeface="Times New Roman" panose="02020603050405020304" charset="0"/>
                <a:cs typeface="Times New Roman" panose="02020603050405020304" charset="0"/>
              </a:rPr>
              <a:t>Overview of </a:t>
            </a:r>
            <a:r>
              <a:rPr lang="en-IN" altLang="en-US" sz="1800" b="1">
                <a:latin typeface="Times New Roman" panose="02020603050405020304" charset="0"/>
                <a:cs typeface="Times New Roman" panose="02020603050405020304" charset="0"/>
              </a:rPr>
              <a:t>fraud detection</a:t>
            </a:r>
            <a:r>
              <a:rPr lang="en-US" altLang="en-US" sz="1800" b="1">
                <a:latin typeface="Times New Roman" panose="02020603050405020304" charset="0"/>
                <a:cs typeface="Times New Roman" panose="02020603050405020304" charset="0"/>
              </a:rPr>
              <a:t> Systems:</a:t>
            </a:r>
            <a:endParaRPr lang="en-US" altLang="en-US" sz="1800" b="1">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Smith et al. (2021) proposed a machine learning-based fraud detection system using classification algorithms.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Kumar and Patel (2022) developed a fraud detection model using clustering and anomaly detection.</a:t>
            </a:r>
            <a:endParaRPr lang="en-US" altLang="en-US" sz="1800">
              <a:latin typeface="Times New Roman" panose="02020603050405020304" charset="0"/>
              <a:cs typeface="Times New Roman" panose="02020603050405020304" charset="0"/>
            </a:endParaRPr>
          </a:p>
          <a:p>
            <a:pPr marL="342900" lvl="0" indent="0" algn="l" rtl="0">
              <a:lnSpc>
                <a:spcPct val="100000"/>
              </a:lnSpc>
              <a:spcBef>
                <a:spcPts val="640"/>
              </a:spcBef>
              <a:spcAft>
                <a:spcPts val="0"/>
              </a:spcAft>
              <a:buSzPts val="1800"/>
              <a:buNone/>
            </a:pPr>
            <a:r>
              <a:rPr lang="en-US" altLang="en-US" sz="1800" b="1">
                <a:latin typeface="Times New Roman" panose="02020603050405020304" charset="0"/>
                <a:cs typeface="Times New Roman" panose="02020603050405020304" charset="0"/>
              </a:rPr>
              <a:t>Technology Used</a:t>
            </a:r>
            <a:r>
              <a:rPr lang="en-IN" altLang="en-US" sz="1800" b="1">
                <a:latin typeface="Times New Roman" panose="02020603050405020304" charset="0"/>
                <a:cs typeface="Times New Roman" panose="02020603050405020304" charset="0"/>
              </a:rPr>
              <a:t> in past:</a:t>
            </a:r>
            <a:endParaRPr lang="en-US" altLang="en-US" sz="1800" b="1">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Data Mining Techniques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Machine Learning Algorithms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Data Warehousing Systems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Statistical Analysis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Artificial Intelligence</a:t>
            </a:r>
            <a:endParaRPr lang="en-US" altLang="en-US" sz="1800">
              <a:latin typeface="Times New Roman" panose="02020603050405020304" charset="0"/>
              <a:cs typeface="Times New Roman" panose="02020603050405020304" charset="0"/>
            </a:endParaRPr>
          </a:p>
          <a:p>
            <a:pPr marL="342900" lvl="0" indent="0" algn="l" rtl="0">
              <a:lnSpc>
                <a:spcPct val="100000"/>
              </a:lnSpc>
              <a:spcBef>
                <a:spcPts val="640"/>
              </a:spcBef>
              <a:spcAft>
                <a:spcPts val="0"/>
              </a:spcAft>
              <a:buSzPts val="1800"/>
              <a:buNone/>
            </a:pPr>
            <a:r>
              <a:rPr lang="en-US" altLang="en-US" sz="1800" b="1">
                <a:latin typeface="Times New Roman" panose="02020603050405020304" charset="0"/>
                <a:cs typeface="Times New Roman" panose="02020603050405020304" charset="0"/>
              </a:rPr>
              <a:t>Gaps Identified:</a:t>
            </a:r>
            <a:endParaRPr lang="en-US" altLang="en-US" sz="1800" b="1">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Slow fraud detection process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Low accuracy in traditional systems</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High false positive rate</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r>
              <a:rPr lang="en-US" altLang="en-US" sz="1800">
                <a:latin typeface="Times New Roman" panose="02020603050405020304" charset="0"/>
                <a:cs typeface="Times New Roman" panose="02020603050405020304" charset="0"/>
              </a:rPr>
              <a:t>Lack of real-time monitoring</a:t>
            </a:r>
            <a:endParaRPr lang="en-US" altLang="en-US" sz="1800">
              <a:latin typeface="Times New Roman" panose="02020603050405020304" charset="0"/>
              <a:cs typeface="Times New Roman" panose="02020603050405020304" charset="0"/>
            </a:endParaRPr>
          </a:p>
          <a:p>
            <a:pPr marL="628650" lvl="0" indent="-285750" algn="l" rtl="0">
              <a:lnSpc>
                <a:spcPct val="100000"/>
              </a:lnSpc>
              <a:spcBef>
                <a:spcPts val="640"/>
              </a:spcBef>
              <a:spcAft>
                <a:spcPts val="0"/>
              </a:spcAft>
              <a:buSzPts val="1800"/>
            </a:pPr>
            <a:endParaRPr lang="en-US" altLang="en-US" sz="1800">
              <a:latin typeface="Times New Roman" panose="02020603050405020304" charset="0"/>
              <a:cs typeface="Times New Roman" panose="02020603050405020304" charset="0"/>
            </a:endParaRPr>
          </a:p>
        </p:txBody>
      </p:sp>
      <p:pic>
        <p:nvPicPr>
          <p:cNvPr id="110" name="Google Shape;110;p4"/>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11" name="Google Shape;111;p4"/>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5"/>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Methodology</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7" name="Google Shape;117;p5"/>
          <p:cNvSpPr txBox="1"/>
          <p:nvPr>
            <p:ph type="body" idx="1"/>
          </p:nvPr>
        </p:nvSpPr>
        <p:spPr>
          <a:xfrm>
            <a:off x="273685" y="1607820"/>
            <a:ext cx="9331325" cy="1878330"/>
          </a:xfrm>
          <a:prstGeom prst="rect">
            <a:avLst/>
          </a:prstGeom>
          <a:noFill/>
          <a:ln>
            <a:noFill/>
          </a:ln>
        </p:spPr>
        <p:txBody>
          <a:bodyPr spcFirstLastPara="1" wrap="square" lIns="91425" tIns="45700" rIns="91425" bIns="45700" anchor="t" anchorCtr="0">
            <a:noAutofit/>
          </a:bodyPr>
          <a:lstStyle/>
          <a:p>
            <a:pPr marL="342900" lvl="0" indent="0" algn="l" rtl="0">
              <a:lnSpc>
                <a:spcPct val="80000"/>
              </a:lnSpc>
              <a:spcBef>
                <a:spcPts val="2700"/>
              </a:spcBef>
              <a:buSzPts val="1800"/>
              <a:buNone/>
            </a:pPr>
            <a:r>
              <a:rPr lang="en-US" altLang="en-US" sz="2000" b="1">
                <a:latin typeface="Times New Roman" panose="02020603050405020304" charset="0"/>
                <a:cs typeface="Times New Roman" panose="02020603050405020304" charset="0"/>
              </a:rPr>
              <a:t>Approach:</a:t>
            </a:r>
            <a:endParaRPr lang="en-US" altLang="en-US" sz="2000" b="1">
              <a:latin typeface="Times New Roman" panose="02020603050405020304" charset="0"/>
              <a:cs typeface="Times New Roman" panose="02020603050405020304" charset="0"/>
            </a:endParaRPr>
          </a:p>
          <a:p>
            <a:pPr marL="342900" lvl="0" indent="0" algn="l" rtl="0">
              <a:lnSpc>
                <a:spcPct val="80000"/>
              </a:lnSpc>
              <a:spcBef>
                <a:spcPts val="2700"/>
              </a:spcBef>
              <a:buSzPts val="1800"/>
              <a:buNone/>
            </a:pPr>
            <a:r>
              <a:rPr lang="en-US" altLang="en-US" sz="2000">
                <a:latin typeface="Times New Roman" panose="02020603050405020304" charset="0"/>
                <a:cs typeface="Times New Roman" panose="02020603050405020304" charset="0"/>
              </a:rPr>
              <a:t>The system follows a data mining approach where financial transaction data is collected, stored in a data warehouse, preprocessed, and analyzed using data mining algorithms to detect fraudulent transactions.</a:t>
            </a:r>
            <a:endParaRPr lang="en-US" altLang="en-US" sz="2000">
              <a:latin typeface="Times New Roman" panose="02020603050405020304" charset="0"/>
              <a:cs typeface="Times New Roman" panose="02020603050405020304" charset="0"/>
            </a:endParaRPr>
          </a:p>
        </p:txBody>
      </p:sp>
      <p:pic>
        <p:nvPicPr>
          <p:cNvPr id="118" name="Google Shape;118;p5"/>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19" name="Google Shape;119;p5"/>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2" name="Text Box 1"/>
          <p:cNvSpPr txBox="1"/>
          <p:nvPr/>
        </p:nvSpPr>
        <p:spPr>
          <a:xfrm>
            <a:off x="677545" y="3220085"/>
            <a:ext cx="7268210" cy="2349500"/>
          </a:xfrm>
          <a:prstGeom prst="rect">
            <a:avLst/>
          </a:prstGeom>
          <a:noFill/>
        </p:spPr>
        <p:txBody>
          <a:bodyPr wrap="square" rtlCol="0">
            <a:noAutofit/>
          </a:bodyPr>
          <a:p>
            <a:r>
              <a:rPr lang="en-US" altLang="en-US" sz="2000" b="1">
                <a:latin typeface="Times New Roman" panose="02020603050405020304" charset="0"/>
                <a:cs typeface="Times New Roman" panose="02020603050405020304" charset="0"/>
              </a:rPr>
              <a:t>Technologies Used:</a:t>
            </a:r>
            <a:endParaRPr lang="en-US" altLang="en-US" sz="2000" b="1">
              <a:latin typeface="Times New Roman" panose="02020603050405020304" charset="0"/>
              <a:cs typeface="Times New Roman" panose="02020603050405020304" charset="0"/>
            </a:endParaRPr>
          </a:p>
          <a:p>
            <a:endParaRPr lang="en-US" altLang="en-US" sz="2000"/>
          </a:p>
          <a:p>
            <a:pPr marL="285750" indent="-285750">
              <a:buFont typeface="Arial" panose="020B0604020202020204" pitchFamily="34" charset="0"/>
              <a:buChar char="•"/>
            </a:pPr>
            <a:r>
              <a:rPr lang="en-US" altLang="en-US" sz="2000">
                <a:latin typeface="Times New Roman" panose="02020603050405020304" charset="0"/>
                <a:cs typeface="Times New Roman" panose="02020603050405020304" charset="0"/>
              </a:rPr>
              <a:t>Programming Language: Python</a:t>
            </a:r>
            <a:endParaRPr lang="en-US" altLang="en-US" sz="2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000">
                <a:latin typeface="Times New Roman" panose="02020603050405020304" charset="0"/>
                <a:cs typeface="Times New Roman" panose="02020603050405020304" charset="0"/>
              </a:rPr>
              <a:t>Database: MySQL / Financial Data Warehouse</a:t>
            </a:r>
            <a:endParaRPr lang="en-US" altLang="en-US" sz="2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000">
                <a:latin typeface="Times New Roman" panose="02020603050405020304" charset="0"/>
                <a:cs typeface="Times New Roman" panose="02020603050405020304" charset="0"/>
              </a:rPr>
              <a:t>Libraries: Pandas, NumPy, Scikit-learn, Matplotlib</a:t>
            </a:r>
            <a:endParaRPr lang="en-US" altLang="en-US" sz="2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000">
                <a:latin typeface="Times New Roman" panose="02020603050405020304" charset="0"/>
                <a:cs typeface="Times New Roman" panose="02020603050405020304" charset="0"/>
              </a:rPr>
              <a:t>Techniques: Classification, Clustering, Anomaly Detection</a:t>
            </a:r>
            <a:endParaRPr lang="en-US" altLang="en-US" sz="2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000">
                <a:latin typeface="Times New Roman" panose="02020603050405020304" charset="0"/>
                <a:cs typeface="Times New Roman" panose="02020603050405020304" charset="0"/>
              </a:rPr>
              <a:t>Tools: Jupyter Notebook / Python IDE</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6"/>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System Design / Architecture</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5" name="Google Shape;125;p6"/>
          <p:cNvSpPr txBox="1"/>
          <p:nvPr>
            <p:ph type="body" idx="1"/>
          </p:nvPr>
        </p:nvSpPr>
        <p:spPr>
          <a:xfrm>
            <a:off x="445770" y="1623695"/>
            <a:ext cx="11283950" cy="5106035"/>
          </a:xfrm>
          <a:prstGeom prst="rect">
            <a:avLst/>
          </a:prstGeom>
          <a:noFill/>
          <a:ln>
            <a:noFill/>
          </a:ln>
        </p:spPr>
        <p:txBody>
          <a:bodyPr spcFirstLastPara="1" wrap="square" lIns="91425" tIns="45700" rIns="91425" bIns="45700" anchor="t" anchorCtr="0">
            <a:noAutofit/>
          </a:bodyPr>
          <a:lstStyle/>
          <a:p>
            <a:pPr marL="342900" lvl="0" indent="0" algn="l" rtl="0">
              <a:lnSpc>
                <a:spcPct val="50000"/>
              </a:lnSpc>
              <a:spcBef>
                <a:spcPts val="2100"/>
              </a:spcBef>
              <a:buSzPts val="1800"/>
              <a:buNone/>
            </a:pPr>
            <a:r>
              <a:rPr lang="en-US" altLang="en-US" sz="2400" b="1">
                <a:latin typeface="Times New Roman" panose="02020603050405020304" charset="0"/>
                <a:cs typeface="Times New Roman" panose="02020603050405020304" charset="0"/>
              </a:rPr>
              <a:t>System Components:</a:t>
            </a:r>
            <a:endParaRPr lang="en-US" altLang="en-US" sz="2400" b="1">
              <a:latin typeface="Times New Roman" panose="02020603050405020304" charset="0"/>
              <a:cs typeface="Times New Roman" panose="02020603050405020304" charset="0"/>
            </a:endParaRPr>
          </a:p>
          <a:p>
            <a:pPr marL="685800" lvl="0" algn="l" rtl="0">
              <a:lnSpc>
                <a:spcPct val="50000"/>
              </a:lnSpc>
              <a:spcBef>
                <a:spcPts val="2100"/>
              </a:spcBef>
              <a:buSzPts val="1800"/>
            </a:pPr>
            <a:r>
              <a:rPr lang="en-US" altLang="en-US" sz="2400">
                <a:latin typeface="Times New Roman" panose="02020603050405020304" charset="0"/>
                <a:cs typeface="Times New Roman" panose="02020603050405020304" charset="0"/>
              </a:rPr>
              <a:t>Financial Data Warehouse</a:t>
            </a:r>
            <a:endParaRPr lang="en-US" altLang="en-US" sz="2400">
              <a:latin typeface="Times New Roman" panose="02020603050405020304" charset="0"/>
              <a:cs typeface="Times New Roman" panose="02020603050405020304" charset="0"/>
            </a:endParaRPr>
          </a:p>
          <a:p>
            <a:pPr marL="685800" lvl="0" algn="l" rtl="0">
              <a:lnSpc>
                <a:spcPct val="50000"/>
              </a:lnSpc>
              <a:spcBef>
                <a:spcPts val="2100"/>
              </a:spcBef>
              <a:buSzPts val="1800"/>
            </a:pPr>
            <a:r>
              <a:rPr lang="en-US" altLang="en-US" sz="2400">
                <a:latin typeface="Times New Roman" panose="02020603050405020304" charset="0"/>
                <a:cs typeface="Times New Roman" panose="02020603050405020304" charset="0"/>
              </a:rPr>
              <a:t>Data Preprocessing Module</a:t>
            </a:r>
            <a:endParaRPr lang="en-US" altLang="en-US" sz="2400">
              <a:latin typeface="Times New Roman" panose="02020603050405020304" charset="0"/>
              <a:cs typeface="Times New Roman" panose="02020603050405020304" charset="0"/>
            </a:endParaRPr>
          </a:p>
          <a:p>
            <a:pPr marL="685800" lvl="0" algn="l" rtl="0">
              <a:lnSpc>
                <a:spcPct val="50000"/>
              </a:lnSpc>
              <a:spcBef>
                <a:spcPts val="2100"/>
              </a:spcBef>
              <a:buSzPts val="1800"/>
            </a:pPr>
            <a:r>
              <a:rPr lang="en-US" altLang="en-US" sz="2400">
                <a:latin typeface="Times New Roman" panose="02020603050405020304" charset="0"/>
                <a:cs typeface="Times New Roman" panose="02020603050405020304" charset="0"/>
              </a:rPr>
              <a:t>Data Mining Module</a:t>
            </a:r>
            <a:endParaRPr lang="en-US" altLang="en-US" sz="2400">
              <a:latin typeface="Times New Roman" panose="02020603050405020304" charset="0"/>
              <a:cs typeface="Times New Roman" panose="02020603050405020304" charset="0"/>
            </a:endParaRPr>
          </a:p>
          <a:p>
            <a:pPr marL="685800" lvl="0" algn="l" rtl="0">
              <a:lnSpc>
                <a:spcPct val="50000"/>
              </a:lnSpc>
              <a:spcBef>
                <a:spcPts val="2100"/>
              </a:spcBef>
              <a:buSzPts val="1800"/>
            </a:pPr>
            <a:r>
              <a:rPr lang="en-US" altLang="en-US" sz="2400">
                <a:latin typeface="Times New Roman" panose="02020603050405020304" charset="0"/>
                <a:cs typeface="Times New Roman" panose="02020603050405020304" charset="0"/>
              </a:rPr>
              <a:t>Fraud Detection Module</a:t>
            </a:r>
            <a:endParaRPr lang="en-US" altLang="en-US" sz="2400">
              <a:latin typeface="Times New Roman" panose="02020603050405020304" charset="0"/>
              <a:cs typeface="Times New Roman" panose="02020603050405020304" charset="0"/>
            </a:endParaRPr>
          </a:p>
          <a:p>
            <a:pPr marL="685800" lvl="0" algn="l" rtl="0">
              <a:lnSpc>
                <a:spcPct val="100000"/>
              </a:lnSpc>
              <a:spcBef>
                <a:spcPts val="2100"/>
              </a:spcBef>
              <a:buSzPts val="1800"/>
            </a:pPr>
            <a:r>
              <a:rPr lang="en-US" altLang="en-US" sz="2400">
                <a:latin typeface="Times New Roman" panose="02020603050405020304" charset="0"/>
                <a:cs typeface="Times New Roman" panose="02020603050405020304" charset="0"/>
              </a:rPr>
              <a:t>Alert and Reporting Module</a:t>
            </a:r>
            <a:endParaRPr lang="en-US" altLang="en-US" sz="2400">
              <a:latin typeface="Times New Roman" panose="02020603050405020304" charset="0"/>
              <a:cs typeface="Times New Roman" panose="02020603050405020304" charset="0"/>
            </a:endParaRPr>
          </a:p>
          <a:p>
            <a:pPr marL="342900" lvl="0" indent="0" algn="l" rtl="0">
              <a:lnSpc>
                <a:spcPct val="100000"/>
              </a:lnSpc>
              <a:spcBef>
                <a:spcPts val="2100"/>
              </a:spcBef>
              <a:buSzPts val="1800"/>
              <a:buNone/>
            </a:pPr>
            <a:r>
              <a:rPr lang="en-US" altLang="en-US" sz="2400" b="1"/>
              <a:t>A</a:t>
            </a:r>
            <a:r>
              <a:rPr lang="en-IN" altLang="en-US" sz="2400" b="1"/>
              <a:t>r</a:t>
            </a:r>
            <a:r>
              <a:rPr lang="en-US" altLang="en-US" sz="2400" b="1"/>
              <a:t>chitecture Diagram:</a:t>
            </a:r>
            <a:endParaRPr lang="en-US" altLang="en-US" sz="2400" b="1"/>
          </a:p>
          <a:p>
            <a:pPr marL="342900" lvl="0" indent="0" algn="l" rtl="0">
              <a:lnSpc>
                <a:spcPct val="100000"/>
              </a:lnSpc>
              <a:spcBef>
                <a:spcPts val="2100"/>
              </a:spcBef>
              <a:spcAft>
                <a:spcPts val="0"/>
              </a:spcAft>
              <a:buSzPts val="1800"/>
              <a:buNone/>
            </a:pPr>
            <a:r>
              <a:rPr lang="en-IN" altLang="en-US" sz="2000"/>
              <a:t>                               </a:t>
            </a:r>
            <a:endParaRPr lang="en-IN" altLang="en-US" sz="2000"/>
          </a:p>
        </p:txBody>
      </p:sp>
      <p:pic>
        <p:nvPicPr>
          <p:cNvPr id="126" name="Google Shape;126;p6"/>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27" name="Google Shape;127;p6"/>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7" name="Rectangles 6"/>
          <p:cNvSpPr/>
          <p:nvPr/>
        </p:nvSpPr>
        <p:spPr>
          <a:xfrm>
            <a:off x="504190" y="5110480"/>
            <a:ext cx="1574800" cy="5035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a:gradFill>
                <a:gsLst>
                  <a:gs pos="50000">
                    <a:schemeClr val="tx1"/>
                  </a:gs>
                  <a:gs pos="0">
                    <a:schemeClr val="tx1">
                      <a:lumMod val="25000"/>
                      <a:lumOff val="75000"/>
                    </a:schemeClr>
                  </a:gs>
                  <a:gs pos="100000">
                    <a:schemeClr val="tx1">
                      <a:lumMod val="85000"/>
                    </a:schemeClr>
                  </a:gs>
                </a:gsLst>
                <a:lin ang="5400000" scaled="1"/>
              </a:gradFill>
              <a:sym typeface="+mn-ea"/>
            </a:endParaRPr>
          </a:p>
          <a:p>
            <a:pPr algn="ctr"/>
            <a:r>
              <a:rPr lang="en-US" altLang="en-US">
                <a:gradFill>
                  <a:gsLst>
                    <a:gs pos="50000">
                      <a:schemeClr val="tx1"/>
                    </a:gs>
                    <a:gs pos="0">
                      <a:schemeClr val="tx1">
                        <a:lumMod val="25000"/>
                        <a:lumOff val="75000"/>
                      </a:schemeClr>
                    </a:gs>
                    <a:gs pos="100000">
                      <a:schemeClr val="tx1">
                        <a:lumMod val="85000"/>
                      </a:schemeClr>
                    </a:gs>
                  </a:gsLst>
                  <a:lin ang="5400000" scaled="1"/>
                </a:gradFill>
                <a:sym typeface="+mn-ea"/>
              </a:rPr>
              <a:t>Data Collection</a:t>
            </a:r>
            <a:endParaRPr lang="en-US" altLang="en-US">
              <a:gradFill>
                <a:gsLst>
                  <a:gs pos="50000">
                    <a:schemeClr val="tx1"/>
                  </a:gs>
                  <a:gs pos="0">
                    <a:schemeClr val="tx1">
                      <a:lumMod val="25000"/>
                      <a:lumOff val="75000"/>
                    </a:schemeClr>
                  </a:gs>
                  <a:gs pos="100000">
                    <a:schemeClr val="tx1">
                      <a:lumMod val="85000"/>
                    </a:schemeClr>
                  </a:gs>
                </a:gsLst>
                <a:lin ang="5400000" scaled="1"/>
              </a:gradFill>
            </a:endParaRPr>
          </a:p>
          <a:p>
            <a:pPr algn="ctr"/>
            <a:endParaRPr lang="en-US" altLang="en-US">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9" name="Rectangles 8"/>
          <p:cNvSpPr/>
          <p:nvPr/>
        </p:nvSpPr>
        <p:spPr>
          <a:xfrm>
            <a:off x="3431540" y="5026025"/>
            <a:ext cx="2153285" cy="58801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1600">
              <a:gradFill>
                <a:gsLst>
                  <a:gs pos="50000">
                    <a:schemeClr val="tx1"/>
                  </a:gs>
                  <a:gs pos="0">
                    <a:schemeClr val="tx1">
                      <a:lumMod val="25000"/>
                      <a:lumOff val="75000"/>
                    </a:schemeClr>
                  </a:gs>
                  <a:gs pos="100000">
                    <a:schemeClr val="tx1">
                      <a:lumMod val="85000"/>
                    </a:schemeClr>
                  </a:gs>
                </a:gsLst>
                <a:lin ang="5400000" scaled="1"/>
              </a:gradFill>
              <a:sym typeface="+mn-ea"/>
            </a:endParaRPr>
          </a:p>
          <a:p>
            <a:pPr algn="ctr"/>
            <a:r>
              <a:rPr lang="en-US" altLang="en-US" sz="1600">
                <a:gradFill>
                  <a:gsLst>
                    <a:gs pos="50000">
                      <a:schemeClr val="tx1"/>
                    </a:gs>
                    <a:gs pos="0">
                      <a:schemeClr val="tx1">
                        <a:lumMod val="25000"/>
                        <a:lumOff val="75000"/>
                      </a:schemeClr>
                    </a:gs>
                    <a:gs pos="100000">
                      <a:schemeClr val="tx1">
                        <a:lumMod val="85000"/>
                      </a:schemeClr>
                    </a:gs>
                  </a:gsLst>
                  <a:lin ang="5400000" scaled="1"/>
                </a:gradFill>
                <a:sym typeface="+mn-ea"/>
              </a:rPr>
              <a:t>Data Warehouse Storage</a:t>
            </a:r>
            <a:endParaRPr lang="en-US" altLang="en-US" sz="1600">
              <a:gradFill>
                <a:gsLst>
                  <a:gs pos="50000">
                    <a:schemeClr val="tx1"/>
                  </a:gs>
                  <a:gs pos="0">
                    <a:schemeClr val="tx1">
                      <a:lumMod val="25000"/>
                      <a:lumOff val="75000"/>
                    </a:schemeClr>
                  </a:gs>
                  <a:gs pos="100000">
                    <a:schemeClr val="tx1">
                      <a:lumMod val="85000"/>
                    </a:schemeClr>
                  </a:gs>
                </a:gsLst>
                <a:lin ang="5400000" scaled="1"/>
              </a:gradFill>
            </a:endParaRPr>
          </a:p>
          <a:p>
            <a:pPr algn="ctr"/>
            <a:endParaRPr lang="en-US" altLang="en-US" sz="160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10" name="Rectangles 9"/>
          <p:cNvSpPr/>
          <p:nvPr/>
        </p:nvSpPr>
        <p:spPr>
          <a:xfrm>
            <a:off x="7670165" y="6122035"/>
            <a:ext cx="3735070" cy="5035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800">
                <a:gradFill>
                  <a:gsLst>
                    <a:gs pos="50000">
                      <a:schemeClr val="tx1"/>
                    </a:gs>
                    <a:gs pos="0">
                      <a:schemeClr val="tx1">
                        <a:lumMod val="25000"/>
                        <a:lumOff val="75000"/>
                      </a:schemeClr>
                    </a:gs>
                    <a:gs pos="100000">
                      <a:schemeClr val="tx1">
                        <a:lumMod val="85000"/>
                      </a:schemeClr>
                    </a:gs>
                  </a:gsLst>
                  <a:lin ang="5400000" scaled="1"/>
                </a:gradFill>
              </a:rPr>
              <a:t>Apply Data Mining Algorithms</a:t>
            </a:r>
            <a:endParaRPr lang="en-US" altLang="en-US" sz="180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11" name="Rectangles 10"/>
          <p:cNvSpPr/>
          <p:nvPr/>
        </p:nvSpPr>
        <p:spPr>
          <a:xfrm>
            <a:off x="6661785" y="5110480"/>
            <a:ext cx="2090420" cy="5035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800">
                <a:gradFill>
                  <a:gsLst>
                    <a:gs pos="50000">
                      <a:schemeClr val="tx1"/>
                    </a:gs>
                    <a:gs pos="0">
                      <a:schemeClr val="tx1">
                        <a:lumMod val="25000"/>
                        <a:lumOff val="75000"/>
                      </a:schemeClr>
                    </a:gs>
                    <a:gs pos="100000">
                      <a:schemeClr val="tx1">
                        <a:lumMod val="85000"/>
                      </a:schemeClr>
                    </a:gs>
                  </a:gsLst>
                  <a:lin ang="5400000" scaled="1"/>
                </a:gradFill>
              </a:rPr>
              <a:t>Data Preprocessing</a:t>
            </a:r>
            <a:endParaRPr lang="en-US" altLang="en-US" sz="180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12" name="Rectangles 11"/>
          <p:cNvSpPr/>
          <p:nvPr/>
        </p:nvSpPr>
        <p:spPr>
          <a:xfrm>
            <a:off x="446405" y="6122035"/>
            <a:ext cx="2778760" cy="5035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800">
                <a:gradFill>
                  <a:gsLst>
                    <a:gs pos="50000">
                      <a:schemeClr val="tx1"/>
                    </a:gs>
                    <a:gs pos="0">
                      <a:schemeClr val="tx1">
                        <a:lumMod val="25000"/>
                        <a:lumOff val="75000"/>
                      </a:schemeClr>
                    </a:gs>
                    <a:gs pos="100000">
                      <a:schemeClr val="tx1">
                        <a:lumMod val="85000"/>
                      </a:schemeClr>
                    </a:gs>
                  </a:gsLst>
                  <a:lin ang="5400000" scaled="1"/>
                </a:gradFill>
              </a:rPr>
              <a:t>Generate Alerts &amp; Reports</a:t>
            </a:r>
            <a:endParaRPr lang="en-US" altLang="en-US" sz="180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13" name="Rectangles 12"/>
          <p:cNvSpPr/>
          <p:nvPr/>
        </p:nvSpPr>
        <p:spPr>
          <a:xfrm>
            <a:off x="4258945" y="6122035"/>
            <a:ext cx="2376805" cy="5035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000">
                <a:solidFill>
                  <a:schemeClr val="tx1"/>
                </a:solidFill>
              </a:rPr>
              <a:t> Fraud Detection</a:t>
            </a:r>
            <a:r>
              <a:rPr lang="en-US" altLang="en-US"/>
              <a:t>l</a:t>
            </a:r>
            <a:endParaRPr lang="en-US" altLang="en-US"/>
          </a:p>
        </p:txBody>
      </p:sp>
      <p:sp>
        <p:nvSpPr>
          <p:cNvPr id="14" name="Notched Right Arrow 13"/>
          <p:cNvSpPr/>
          <p:nvPr/>
        </p:nvSpPr>
        <p:spPr>
          <a:xfrm>
            <a:off x="2354580" y="5269230"/>
            <a:ext cx="753745" cy="249555"/>
          </a:xfrm>
          <a:prstGeom prst="notched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Notched Right Arrow 14"/>
          <p:cNvSpPr/>
          <p:nvPr/>
        </p:nvSpPr>
        <p:spPr>
          <a:xfrm>
            <a:off x="5746750" y="5269230"/>
            <a:ext cx="753745" cy="249555"/>
          </a:xfrm>
          <a:prstGeom prst="notched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Notched Right Arrow 15"/>
          <p:cNvSpPr/>
          <p:nvPr/>
        </p:nvSpPr>
        <p:spPr>
          <a:xfrm rot="10800000">
            <a:off x="6776085" y="6249035"/>
            <a:ext cx="753745" cy="249555"/>
          </a:xfrm>
          <a:prstGeom prst="notched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7" name="Notched Right Arrow 16"/>
          <p:cNvSpPr/>
          <p:nvPr/>
        </p:nvSpPr>
        <p:spPr>
          <a:xfrm rot="10800000">
            <a:off x="3365500" y="6249035"/>
            <a:ext cx="753745" cy="249555"/>
          </a:xfrm>
          <a:prstGeom prst="notched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2" name="Curved Left Arrow 21"/>
          <p:cNvSpPr/>
          <p:nvPr/>
        </p:nvSpPr>
        <p:spPr>
          <a:xfrm>
            <a:off x="9484995" y="5333365"/>
            <a:ext cx="1029335" cy="678815"/>
          </a:xfrm>
          <a:prstGeom prst="curvedLeftArrow">
            <a:avLst/>
          </a:prstGeom>
          <a:solidFill>
            <a:schemeClr val="bg1"/>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7"/>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Implementation</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4" name="Google Shape;134;p7"/>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35" name="Google Shape;135;p7"/>
          <p:cNvPicPr preferRelativeResize="0"/>
          <p:nvPr/>
        </p:nvPicPr>
        <p:blipFill rotWithShape="1">
          <a:blip r:embed="rId2"/>
          <a:srcRect/>
          <a:stretch>
            <a:fillRect/>
          </a:stretch>
        </p:blipFill>
        <p:spPr>
          <a:xfrm>
            <a:off x="10514231" y="191626"/>
            <a:ext cx="1520114" cy="1342884"/>
          </a:xfrm>
          <a:prstGeom prst="rect">
            <a:avLst/>
          </a:prstGeom>
          <a:noFill/>
          <a:ln>
            <a:noFill/>
          </a:ln>
        </p:spPr>
      </p:pic>
      <p:pic>
        <p:nvPicPr>
          <p:cNvPr id="2" name="Picture 1"/>
          <p:cNvPicPr>
            <a:picLocks noChangeAspect="1"/>
          </p:cNvPicPr>
          <p:nvPr/>
        </p:nvPicPr>
        <p:blipFill>
          <a:blip r:embed="rId3"/>
          <a:stretch>
            <a:fillRect/>
          </a:stretch>
        </p:blipFill>
        <p:spPr>
          <a:xfrm>
            <a:off x="1059180" y="4477385"/>
            <a:ext cx="2778760" cy="1752600"/>
          </a:xfrm>
          <a:prstGeom prst="rect">
            <a:avLst/>
          </a:prstGeom>
        </p:spPr>
      </p:pic>
      <p:sp>
        <p:nvSpPr>
          <p:cNvPr id="6" name="Text Box 5"/>
          <p:cNvSpPr txBox="1"/>
          <p:nvPr/>
        </p:nvSpPr>
        <p:spPr>
          <a:xfrm>
            <a:off x="603885" y="1896110"/>
            <a:ext cx="4478020" cy="4747260"/>
          </a:xfrm>
          <a:prstGeom prst="rect">
            <a:avLst/>
          </a:prstGeom>
          <a:noFill/>
        </p:spPr>
        <p:txBody>
          <a:bodyPr wrap="square" rtlCol="0">
            <a:noAutofit/>
          </a:bodyPr>
          <a:p>
            <a:r>
              <a:rPr lang="en-US" altLang="en-US" sz="2400" b="1">
                <a:latin typeface="Times New Roman" panose="02020603050405020304" charset="0"/>
                <a:cs typeface="Times New Roman" panose="02020603050405020304" charset="0"/>
              </a:rPr>
              <a:t>Software</a:t>
            </a:r>
            <a:endParaRPr lang="en-US" altLang="en-US" sz="2400" b="1">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000">
                <a:latin typeface="Times New Roman" panose="02020603050405020304" charset="0"/>
                <a:cs typeface="Times New Roman" panose="02020603050405020304" charset="0"/>
              </a:rPr>
              <a:t>Python</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000">
                <a:latin typeface="Times New Roman" panose="02020603050405020304" charset="0"/>
                <a:cs typeface="Times New Roman" panose="02020603050405020304" charset="0"/>
              </a:rPr>
              <a:t>MySQL / CSV dataset</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000">
                <a:latin typeface="Times New Roman" panose="02020603050405020304" charset="0"/>
                <a:cs typeface="Times New Roman" panose="02020603050405020304" charset="0"/>
              </a:rPr>
              <a:t>Jupyter Notebook / Python IDE</a:t>
            </a:r>
            <a:endParaRPr lang="en-US" altLang="en-US" sz="2000">
              <a:latin typeface="Times New Roman" panose="02020603050405020304" charset="0"/>
              <a:cs typeface="Times New Roman" panose="02020603050405020304" charset="0"/>
            </a:endParaRPr>
          </a:p>
        </p:txBody>
      </p:sp>
      <p:sp>
        <p:nvSpPr>
          <p:cNvPr id="7" name="Text Box 6"/>
          <p:cNvSpPr txBox="1"/>
          <p:nvPr/>
        </p:nvSpPr>
        <p:spPr>
          <a:xfrm>
            <a:off x="5357495" y="1608455"/>
            <a:ext cx="6546850" cy="4523105"/>
          </a:xfrm>
          <a:prstGeom prst="rect">
            <a:avLst/>
          </a:prstGeom>
          <a:noFill/>
        </p:spPr>
        <p:txBody>
          <a:bodyPr wrap="square" rtlCol="0">
            <a:spAutoFit/>
          </a:bodyPr>
          <a:p>
            <a:r>
              <a:rPr lang="en-US" altLang="en-US" sz="2400" b="1">
                <a:latin typeface="Times New Roman" panose="02020603050405020304" charset="0"/>
                <a:cs typeface="Times New Roman" panose="02020603050405020304" charset="0"/>
              </a:rPr>
              <a:t>Step-by-Step Implementation</a:t>
            </a:r>
            <a:endParaRPr lang="en-US" altLang="en-US" sz="2400" b="1">
              <a:latin typeface="Times New Roman" panose="02020603050405020304" charset="0"/>
              <a:cs typeface="Times New Roman" panose="02020603050405020304" charset="0"/>
            </a:endParaRPr>
          </a:p>
          <a:p>
            <a:endParaRPr lang="en-US" altLang="en-US" sz="2400" b="1">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r>
              <a:rPr lang="en-US" altLang="en-US" sz="2000">
                <a:latin typeface="Times New Roman" panose="02020603050405020304" charset="0"/>
                <a:cs typeface="Times New Roman" panose="02020603050405020304" charset="0"/>
              </a:rPr>
              <a:t>Collect financial transaction dataset</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r>
              <a:rPr lang="en-US" altLang="en-US" sz="2000">
                <a:latin typeface="Times New Roman" panose="02020603050405020304" charset="0"/>
                <a:cs typeface="Times New Roman" panose="02020603050405020304" charset="0"/>
              </a:rPr>
              <a:t>Store data in financial data warehouse</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r>
              <a:rPr lang="en-US" altLang="en-US" sz="2000">
                <a:latin typeface="Times New Roman" panose="02020603050405020304" charset="0"/>
                <a:cs typeface="Times New Roman" panose="02020603050405020304" charset="0"/>
              </a:rPr>
              <a:t>Clean and preprocess the dataset</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r>
              <a:rPr lang="en-US" altLang="en-US" sz="2000">
                <a:latin typeface="Times New Roman" panose="02020603050405020304" charset="0"/>
                <a:cs typeface="Times New Roman" panose="02020603050405020304" charset="0"/>
              </a:rPr>
              <a:t>Apply data mining algorithms</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r>
              <a:rPr lang="en-US" altLang="en-US" sz="2000">
                <a:latin typeface="Times New Roman" panose="02020603050405020304" charset="0"/>
                <a:cs typeface="Times New Roman" panose="02020603050405020304" charset="0"/>
              </a:rPr>
              <a:t>Detect fraudulent transactions</a:t>
            </a: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endParaRPr lang="en-US" altLang="en-US" sz="2000">
              <a:latin typeface="Times New Roman" panose="02020603050405020304" charset="0"/>
              <a:cs typeface="Times New Roman" panose="02020603050405020304" charset="0"/>
            </a:endParaRPr>
          </a:p>
          <a:p>
            <a:pPr marL="342900" indent="-342900">
              <a:buFont typeface="Arial" panose="020B0604020202020204" pitchFamily="34" charset="0"/>
              <a:buAutoNum type="arabicPeriod"/>
            </a:pPr>
            <a:r>
              <a:rPr lang="en-US" altLang="en-US" sz="2000">
                <a:latin typeface="Times New Roman" panose="02020603050405020304" charset="0"/>
                <a:cs typeface="Times New Roman" panose="02020603050405020304" charset="0"/>
              </a:rPr>
              <a:t>Generate alerts and reports</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1076960" y="274955"/>
            <a:ext cx="9073515" cy="1143000"/>
          </a:xfrm>
        </p:spPr>
        <p:txBody>
          <a:bodyPr>
            <a:normAutofit fontScale="90000"/>
          </a:bodyPr>
          <a:p>
            <a:r>
              <a:rPr lang="en-IN" altLang="en-US"/>
              <a:t>PROJECT MODULES</a:t>
            </a:r>
            <a:br>
              <a:rPr lang="en-IN" altLang="en-US"/>
            </a:br>
            <a:r>
              <a:rPr lang="en-US" altLang="en-US"/>
              <a:t>Module 1: Data Collection and Data Warehouse Module</a:t>
            </a:r>
            <a:endParaRPr lang="en-US" altLang="en-US"/>
          </a:p>
        </p:txBody>
      </p:sp>
      <p:sp>
        <p:nvSpPr>
          <p:cNvPr id="4" name="Text Box 3"/>
          <p:cNvSpPr txBox="1"/>
          <p:nvPr/>
        </p:nvSpPr>
        <p:spPr>
          <a:xfrm>
            <a:off x="497840" y="1661795"/>
            <a:ext cx="11085195" cy="4815840"/>
          </a:xfrm>
          <a:prstGeom prst="rect">
            <a:avLst/>
          </a:prstGeom>
          <a:noFill/>
        </p:spPr>
        <p:txBody>
          <a:bodyPr wrap="square" rtlCol="0">
            <a:noAutofit/>
          </a:bodyPr>
          <a:p>
            <a:r>
              <a:rPr lang="en-US" altLang="en-US" sz="1600" b="1">
                <a:latin typeface="Times New Roman" panose="02020603050405020304" charset="0"/>
                <a:cs typeface="Times New Roman" panose="02020603050405020304" charset="0"/>
              </a:rPr>
              <a:t>Purpose:</a:t>
            </a:r>
            <a:endParaRPr lang="en-US" altLang="en-US" sz="1600" b="1">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US" sz="1600">
                <a:latin typeface="Times New Roman" panose="02020603050405020304" charset="0"/>
                <a:cs typeface="Times New Roman" panose="02020603050405020304" charset="0"/>
              </a:rPr>
              <a:t>This module is responsible for collecting financial transaction data and storing it in a financial data warehouse for further analysis. The data warehouse acts as a centralized storage system that stores large volumes of structured financial data efficiently.</a:t>
            </a: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Description:</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Financial transaction data may include transaction ID, transaction amount, date, time, customer ID, payment method, location, and transaction status. This data is collected from financial systems, banking databases, or CSV datasets. The collected data is then stored in a data warehouse such as MySQL or CSV files, which allows efficient data management, retrieval, and analysis.</a:t>
            </a: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Functions:</a:t>
            </a:r>
            <a:endParaRPr lang="en-US" altLang="en-US"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Collect financial transaction data from source files or databases</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Store data in a financial data warehouse (MySQL or CSV)</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Organize and manage large volumes of transaction data</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Provide structured data for fraud detection analysis</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Ensure data availability for preprocessing and mining</a:t>
            </a: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Technologies Used:</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Python</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MySQL / CSV Dataset</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Pandas Library</a:t>
            </a:r>
            <a:endParaRPr lang="en-US" altLang="en-US" sz="1600">
              <a:latin typeface="Times New Roman" panose="02020603050405020304" charset="0"/>
              <a:cs typeface="Times New Roman" panose="02020603050405020304" charset="0"/>
            </a:endParaRPr>
          </a:p>
          <a:p>
            <a:r>
              <a:rPr lang="en-US" altLang="en-US" sz="1600" b="1">
                <a:latin typeface="Times New Roman" panose="02020603050405020304" charset="0"/>
                <a:cs typeface="Times New Roman" panose="02020603050405020304" charset="0"/>
              </a:rPr>
              <a:t>Output of Module:</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Structured financial transaction data stored in the data warehouse.</a:t>
            </a:r>
            <a:endParaRPr lang="en-US" altLang="en-US" sz="1600">
              <a:latin typeface="Times New Roman" panose="02020603050405020304" charset="0"/>
              <a:cs typeface="Times New Roman" panose="02020603050405020304" charset="0"/>
            </a:endParaRPr>
          </a:p>
        </p:txBody>
      </p:sp>
      <p:pic>
        <p:nvPicPr>
          <p:cNvPr id="5" name="Google Shape;118;p5"/>
          <p:cNvPicPr preferRelativeResize="0"/>
          <p:nvPr/>
        </p:nvPicPr>
        <p:blipFill rotWithShape="1">
          <a:blip r:embed="rId1"/>
          <a:srcRect/>
          <a:stretch>
            <a:fillRect/>
          </a:stretch>
        </p:blipFill>
        <p:spPr>
          <a:xfrm>
            <a:off x="187172" y="95741"/>
            <a:ext cx="1135117" cy="1342884"/>
          </a:xfrm>
          <a:prstGeom prst="rect">
            <a:avLst/>
          </a:prstGeom>
          <a:noFill/>
          <a:ln>
            <a:noFill/>
          </a:ln>
        </p:spPr>
      </p:pic>
      <p:pic>
        <p:nvPicPr>
          <p:cNvPr id="135" name="Google Shape;135;p7"/>
          <p:cNvPicPr preferRelativeResize="0"/>
          <p:nvPr/>
        </p:nvPicPr>
        <p:blipFill rotWithShape="1">
          <a:blip r:embed="rId2"/>
          <a:srcRect/>
          <a:stretch>
            <a:fillRect/>
          </a:stretch>
        </p:blipFill>
        <p:spPr>
          <a:xfrm>
            <a:off x="10514231" y="95741"/>
            <a:ext cx="1520114" cy="1342884"/>
          </a:xfrm>
          <a:prstGeom prst="rect">
            <a:avLst/>
          </a:prstGeom>
          <a:noFill/>
          <a:ln>
            <a:noFill/>
          </a:ln>
        </p:spPr>
      </p:pic>
      <p:pic>
        <p:nvPicPr>
          <p:cNvPr id="3" name="Google Shape;118;p5"/>
          <p:cNvPicPr preferRelativeResize="0"/>
          <p:nvPr/>
        </p:nvPicPr>
        <p:blipFill rotWithShape="1">
          <a:blip r:embed="rId1"/>
          <a:srcRect/>
          <a:stretch>
            <a:fillRect/>
          </a:stretch>
        </p:blipFill>
        <p:spPr>
          <a:xfrm>
            <a:off x="314172" y="222741"/>
            <a:ext cx="1135117" cy="13428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09600" y="274955"/>
            <a:ext cx="9848215" cy="1143000"/>
          </a:xfrm>
        </p:spPr>
        <p:txBody>
          <a:bodyPr>
            <a:normAutofit fontScale="90000"/>
          </a:bodyPr>
          <a:p>
            <a:r>
              <a:rPr lang="en-US" altLang="en-US"/>
              <a:t>Module 2: Data Preprocessing and Transformation Module</a:t>
            </a:r>
            <a:endParaRPr lang="en-US" altLang="en-US"/>
          </a:p>
        </p:txBody>
      </p:sp>
      <p:sp>
        <p:nvSpPr>
          <p:cNvPr id="3" name="Text Placeholder 2"/>
          <p:cNvSpPr/>
          <p:nvPr>
            <p:ph type="body" idx="1"/>
          </p:nvPr>
        </p:nvSpPr>
        <p:spPr>
          <a:xfrm>
            <a:off x="186690" y="1205865"/>
            <a:ext cx="11745595" cy="4920615"/>
          </a:xfrm>
        </p:spPr>
        <p:txBody>
          <a:bodyPr>
            <a:noAutofit/>
          </a:bodyPr>
          <a:p>
            <a:pPr marL="114300" indent="0">
              <a:buNone/>
            </a:pPr>
            <a:r>
              <a:rPr lang="en-US" altLang="en-US" sz="1600" b="1">
                <a:latin typeface="Times New Roman" panose="02020603050405020304" charset="0"/>
                <a:cs typeface="Times New Roman" panose="02020603050405020304" charset="0"/>
              </a:rPr>
              <a:t>Purpose:</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This module prepares the raw financial transaction data for analysis by cleaning, transforming, and organizing the data. Proper preprocessing improves the accuracy and performance of fraud detection algorithms.</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Description:</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Raw financial data may contain missing values, duplicate records, incorrect values, or inconsistent formats. This module cleans the data by removing or correcting such errors. It also converts data into a suitable format for data mining algorithms. Data normalization and transformation are performed to improve algorithm performance and ensure accurate fraud detection.</a:t>
            </a:r>
            <a:endParaRPr lang="en-US" altLang="en-US" sz="1600">
              <a:latin typeface="Times New Roman" panose="02020603050405020304" charset="0"/>
              <a:cs typeface="Times New Roman" panose="02020603050405020304" charset="0"/>
            </a:endParaRPr>
          </a:p>
          <a:p>
            <a:pPr marL="114300" indent="0">
              <a:buNone/>
            </a:pPr>
            <a:r>
              <a:rPr lang="en-US" altLang="en-US" sz="1600" b="1">
                <a:latin typeface="Times New Roman" panose="02020603050405020304" charset="0"/>
                <a:cs typeface="Times New Roman" panose="02020603050405020304" charset="0"/>
              </a:rPr>
              <a:t>Functions:</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Remove missing or null values</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Remove duplicate records</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Convert data into proper numerical format</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Normalize and scale data</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Prepare data for machine learning algorithms</a:t>
            </a:r>
            <a:endParaRPr lang="en-US" altLang="en-US" sz="1600">
              <a:latin typeface="Times New Roman" panose="02020603050405020304" charset="0"/>
              <a:cs typeface="Times New Roman" panose="02020603050405020304" charset="0"/>
            </a:endParaRPr>
          </a:p>
          <a:p>
            <a:pPr marL="114300" indent="0">
              <a:buNone/>
            </a:pPr>
            <a:r>
              <a:rPr lang="en-US" altLang="en-US" sz="1600" b="1">
                <a:latin typeface="Times New Roman" panose="02020603050405020304" charset="0"/>
                <a:cs typeface="Times New Roman" panose="02020603050405020304" charset="0"/>
              </a:rPr>
              <a:t>Technologies Used:</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Python</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Pandas</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NumPy</a:t>
            </a:r>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Scikit-learn (StandardScaler)</a:t>
            </a:r>
            <a:endParaRPr lang="en-US" altLang="en-US" sz="1600">
              <a:latin typeface="Times New Roman" panose="02020603050405020304" charset="0"/>
              <a:cs typeface="Times New Roman" panose="02020603050405020304" charset="0"/>
            </a:endParaRPr>
          </a:p>
          <a:p>
            <a:pPr marL="114300" indent="0">
              <a:buNone/>
            </a:pPr>
            <a:r>
              <a:rPr lang="en-US" altLang="en-US" sz="1600" b="1">
                <a:latin typeface="Times New Roman" panose="02020603050405020304" charset="0"/>
                <a:cs typeface="Times New Roman" panose="02020603050405020304" charset="0"/>
              </a:rPr>
              <a:t>Output of Module:</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Cleaned and processed dataset ready for fraud detection analysis.</a:t>
            </a:r>
            <a:endParaRPr lang="en-US" altLang="en-US" sz="1600">
              <a:latin typeface="Times New Roman" panose="02020603050405020304" charset="0"/>
              <a:cs typeface="Times New Roman" panose="02020603050405020304" charset="0"/>
            </a:endParaRPr>
          </a:p>
        </p:txBody>
      </p:sp>
      <p:pic>
        <p:nvPicPr>
          <p:cNvPr id="5" name="Google Shape;118;p5"/>
          <p:cNvPicPr preferRelativeResize="0"/>
          <p:nvPr/>
        </p:nvPicPr>
        <p:blipFill rotWithShape="1">
          <a:blip r:embed="rId1"/>
          <a:srcRect/>
          <a:stretch>
            <a:fillRect/>
          </a:stretch>
        </p:blipFill>
        <p:spPr>
          <a:xfrm>
            <a:off x="187325" y="95885"/>
            <a:ext cx="1135380" cy="1109345"/>
          </a:xfrm>
          <a:prstGeom prst="rect">
            <a:avLst/>
          </a:prstGeom>
          <a:noFill/>
          <a:ln>
            <a:noFill/>
          </a:ln>
        </p:spPr>
      </p:pic>
      <p:pic>
        <p:nvPicPr>
          <p:cNvPr id="135" name="Google Shape;135;p7"/>
          <p:cNvPicPr preferRelativeResize="0"/>
          <p:nvPr/>
        </p:nvPicPr>
        <p:blipFill rotWithShape="1">
          <a:blip r:embed="rId2"/>
          <a:srcRect/>
          <a:stretch>
            <a:fillRect/>
          </a:stretch>
        </p:blipFill>
        <p:spPr>
          <a:xfrm>
            <a:off x="10217150" y="74930"/>
            <a:ext cx="1520190" cy="120586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normAutofit fontScale="90000"/>
          </a:bodyPr>
          <a:p>
            <a:r>
              <a:rPr lang="en-US" altLang="en-US"/>
              <a:t>Module 3: Fraud Detection and Data Mining Module</a:t>
            </a:r>
            <a:endParaRPr lang="en-US" altLang="en-US"/>
          </a:p>
        </p:txBody>
      </p:sp>
      <p:sp>
        <p:nvSpPr>
          <p:cNvPr id="3" name="Text Placeholder 2"/>
          <p:cNvSpPr/>
          <p:nvPr>
            <p:ph type="body" idx="1"/>
          </p:nvPr>
        </p:nvSpPr>
        <p:spPr>
          <a:xfrm>
            <a:off x="174625" y="1600200"/>
            <a:ext cx="11852910" cy="4982210"/>
          </a:xfrm>
        </p:spPr>
        <p:txBody>
          <a:bodyPr>
            <a:noAutofit/>
          </a:bodyPr>
          <a:p>
            <a:pPr marL="114300" indent="0">
              <a:buNone/>
            </a:pPr>
            <a:r>
              <a:rPr lang="en-US" altLang="en-US" sz="1500" b="1">
                <a:latin typeface="Times New Roman" panose="02020603050405020304" charset="0"/>
                <a:cs typeface="Times New Roman" panose="02020603050405020304" charset="0"/>
              </a:rPr>
              <a:t>Purpose:</a:t>
            </a:r>
            <a:endParaRPr lang="en-US" altLang="en-US" sz="1500" b="1">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This module detects fraudulent transactions using data mining and machine learning algorithms by analyzing transaction patterns and identifying suspicious behavior.</a:t>
            </a:r>
            <a:endParaRPr lang="en-US" altLang="en-US" sz="1500">
              <a:latin typeface="Times New Roman" panose="02020603050405020304" charset="0"/>
              <a:cs typeface="Times New Roman" panose="02020603050405020304" charset="0"/>
            </a:endParaRPr>
          </a:p>
          <a:p>
            <a:pPr marL="114300" indent="0">
              <a:buNone/>
            </a:pPr>
            <a:r>
              <a:rPr lang="en-US" altLang="en-US" sz="1500" b="1">
                <a:latin typeface="Times New Roman" panose="02020603050405020304" charset="0"/>
                <a:cs typeface="Times New Roman" panose="02020603050405020304" charset="0"/>
              </a:rPr>
              <a:t>Description:</a:t>
            </a:r>
            <a:endParaRPr lang="en-US" altLang="en-US" sz="1500" b="1">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This module applies data mining techniques such as classification and anomaly detection to identify fraud. Machine learning algorithms such as Logistic Regression, Decision Tree, or Random Forest are used to classify transactions as normal or fraudulent. The system analyzes patterns such as unusual transaction amount, frequency, location, or behavior to detect fraud.</a:t>
            </a:r>
            <a:endParaRPr lang="en-US" altLang="en-US" sz="1500">
              <a:latin typeface="Times New Roman" panose="02020603050405020304" charset="0"/>
              <a:cs typeface="Times New Roman" panose="02020603050405020304" charset="0"/>
            </a:endParaRPr>
          </a:p>
          <a:p>
            <a:pPr marL="114300" indent="0">
              <a:buNone/>
            </a:pPr>
            <a:r>
              <a:rPr lang="en-US" altLang="en-US" sz="1500" b="1">
                <a:latin typeface="Times New Roman" panose="02020603050405020304" charset="0"/>
                <a:cs typeface="Times New Roman" panose="02020603050405020304" charset="0"/>
              </a:rPr>
              <a:t>Functions:</a:t>
            </a:r>
            <a:endParaRPr lang="en-US" altLang="en-US" sz="1500" b="1">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Apply data mining algorithms</a:t>
            </a:r>
            <a:endParaRPr lang="en-US" altLang="en-US" sz="1500">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Analyze transaction patterns</a:t>
            </a:r>
            <a:endParaRPr lang="en-US" altLang="en-US" sz="1500">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Classify transactions as fraud or normal</a:t>
            </a:r>
            <a:endParaRPr lang="en-US" altLang="en-US" sz="1500">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Detect suspicious transactions</a:t>
            </a:r>
            <a:endParaRPr lang="en-US" altLang="en-US" sz="1500">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Generate fraud detection results</a:t>
            </a:r>
            <a:endParaRPr lang="en-US" altLang="en-US" sz="1500">
              <a:latin typeface="Times New Roman" panose="02020603050405020304" charset="0"/>
              <a:cs typeface="Times New Roman" panose="02020603050405020304" charset="0"/>
            </a:endParaRPr>
          </a:p>
          <a:p>
            <a:pPr marL="114300" indent="0">
              <a:buNone/>
            </a:pPr>
            <a:r>
              <a:rPr lang="en-US" altLang="en-US" sz="1500" b="1">
                <a:latin typeface="Times New Roman" panose="02020603050405020304" charset="0"/>
                <a:cs typeface="Times New Roman" panose="02020603050405020304" charset="0"/>
              </a:rPr>
              <a:t>Technologies Used:</a:t>
            </a:r>
            <a:endParaRPr lang="en-US" altLang="en-US" sz="1500" b="1">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Python</a:t>
            </a:r>
            <a:endParaRPr lang="en-US" altLang="en-US" sz="1500">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Scikit-learn</a:t>
            </a:r>
            <a:endParaRPr lang="en-US" altLang="en-US" sz="1500">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Machine Learning Algorithms (Logistic Regression, Random Forest)</a:t>
            </a:r>
            <a:endParaRPr lang="en-US" altLang="en-US" sz="1500">
              <a:latin typeface="Times New Roman" panose="02020603050405020304" charset="0"/>
              <a:cs typeface="Times New Roman" panose="02020603050405020304" charset="0"/>
            </a:endParaRPr>
          </a:p>
          <a:p>
            <a:pPr marL="114300" indent="0">
              <a:buNone/>
            </a:pPr>
            <a:r>
              <a:rPr lang="en-US" altLang="en-US" sz="1500" b="1">
                <a:latin typeface="Times New Roman" panose="02020603050405020304" charset="0"/>
                <a:cs typeface="Times New Roman" panose="02020603050405020304" charset="0"/>
              </a:rPr>
              <a:t>Output of Module:</a:t>
            </a:r>
            <a:endParaRPr lang="en-US" altLang="en-US" sz="1500" b="1">
              <a:latin typeface="Times New Roman" panose="02020603050405020304" charset="0"/>
              <a:cs typeface="Times New Roman" panose="02020603050405020304" charset="0"/>
            </a:endParaRPr>
          </a:p>
          <a:p>
            <a:r>
              <a:rPr lang="en-US" altLang="en-US" sz="1500">
                <a:latin typeface="Times New Roman" panose="02020603050405020304" charset="0"/>
                <a:cs typeface="Times New Roman" panose="02020603050405020304" charset="0"/>
              </a:rPr>
              <a:t>Fraud detection results showing whether a transaction is normal or fraudulent.</a:t>
            </a:r>
            <a:endParaRPr lang="en-US" altLang="en-US" sz="1500">
              <a:latin typeface="Times New Roman" panose="02020603050405020304" charset="0"/>
              <a:cs typeface="Times New Roman" panose="02020603050405020304" charset="0"/>
            </a:endParaRPr>
          </a:p>
        </p:txBody>
      </p:sp>
      <p:pic>
        <p:nvPicPr>
          <p:cNvPr id="5" name="Google Shape;118;p5"/>
          <p:cNvPicPr preferRelativeResize="0"/>
          <p:nvPr/>
        </p:nvPicPr>
        <p:blipFill rotWithShape="1">
          <a:blip r:embed="rId1"/>
          <a:srcRect/>
          <a:stretch>
            <a:fillRect/>
          </a:stretch>
        </p:blipFill>
        <p:spPr>
          <a:xfrm>
            <a:off x="187325" y="95885"/>
            <a:ext cx="1135380" cy="1109345"/>
          </a:xfrm>
          <a:prstGeom prst="rect">
            <a:avLst/>
          </a:prstGeom>
          <a:noFill/>
          <a:ln>
            <a:noFill/>
          </a:ln>
        </p:spPr>
      </p:pic>
      <p:pic>
        <p:nvPicPr>
          <p:cNvPr id="135" name="Google Shape;135;p7"/>
          <p:cNvPicPr preferRelativeResize="0"/>
          <p:nvPr/>
        </p:nvPicPr>
        <p:blipFill rotWithShape="1">
          <a:blip r:embed="rId2"/>
          <a:srcRect/>
          <a:stretch>
            <a:fillRect/>
          </a:stretch>
        </p:blipFill>
        <p:spPr>
          <a:xfrm>
            <a:off x="10671810" y="95885"/>
            <a:ext cx="1520190" cy="12058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sp>
        <p:nvSpPr>
          <p:cNvPr id="140" name="Google Shape;140;p8"/>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Results &amp; Discussion</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1" name="Google Shape;141;p8"/>
          <p:cNvSpPr txBox="1"/>
          <p:nvPr>
            <p:ph type="body" idx="1"/>
          </p:nvPr>
        </p:nvSpPr>
        <p:spPr>
          <a:xfrm>
            <a:off x="80010" y="1417955"/>
            <a:ext cx="11502390" cy="4708525"/>
          </a:xfrm>
          <a:prstGeom prst="rect">
            <a:avLst/>
          </a:prstGeom>
          <a:noFill/>
          <a:ln>
            <a:noFill/>
          </a:ln>
        </p:spPr>
        <p:txBody>
          <a:bodyPr spcFirstLastPara="1" wrap="square" lIns="91425" tIns="45700" rIns="91425" bIns="45700" anchor="t" anchorCtr="0">
            <a:noAutofit/>
          </a:bodyPr>
          <a:lstStyle/>
          <a:p>
            <a:pPr marL="342900" lvl="0" indent="0" algn="l" rtl="0">
              <a:lnSpc>
                <a:spcPct val="100000"/>
              </a:lnSpc>
              <a:spcBef>
                <a:spcPts val="2700"/>
              </a:spcBef>
              <a:spcAft>
                <a:spcPts val="0"/>
              </a:spcAft>
              <a:buSzPts val="1800"/>
              <a:buNone/>
            </a:pPr>
            <a:r>
              <a:rPr lang="en-US" altLang="en-US" sz="2000" b="1">
                <a:highlight>
                  <a:schemeClr val="lt1"/>
                </a:highlight>
                <a:latin typeface="Times New Roman" panose="02020603050405020304" charset="0"/>
                <a:cs typeface="Times New Roman" panose="02020603050405020304" charset="0"/>
              </a:rPr>
              <a:t>Key Findings:</a:t>
            </a:r>
            <a:endParaRPr lang="en-US" altLang="en-US" sz="2000" b="1">
              <a:highlight>
                <a:schemeClr val="lt1"/>
              </a:highlight>
              <a:latin typeface="Times New Roman" panose="02020603050405020304" charset="0"/>
              <a:cs typeface="Times New Roman" panose="02020603050405020304" charset="0"/>
            </a:endParaRPr>
          </a:p>
          <a:p>
            <a:pPr marL="685800" lvl="0" algn="l" rtl="0">
              <a:lnSpc>
                <a:spcPct val="80000"/>
              </a:lnSpc>
              <a:spcBef>
                <a:spcPts val="2700"/>
              </a:spcBef>
              <a:buSzPts val="1800"/>
            </a:pPr>
            <a:r>
              <a:rPr lang="en-US" altLang="en-US" sz="2000">
                <a:highlight>
                  <a:schemeClr val="lt1"/>
                </a:highlight>
                <a:latin typeface="Times New Roman" panose="02020603050405020304" charset="0"/>
                <a:cs typeface="Times New Roman" panose="02020603050405020304" charset="0"/>
              </a:rPr>
              <a:t>Successfully detected fraudulent transactions</a:t>
            </a:r>
            <a:endParaRPr lang="en-US" altLang="en-US" sz="2000">
              <a:highlight>
                <a:schemeClr val="lt1"/>
              </a:highlight>
              <a:latin typeface="Times New Roman" panose="02020603050405020304" charset="0"/>
              <a:cs typeface="Times New Roman" panose="02020603050405020304" charset="0"/>
            </a:endParaRPr>
          </a:p>
          <a:p>
            <a:pPr marL="685800" lvl="0" algn="l" rtl="0">
              <a:lnSpc>
                <a:spcPct val="80000"/>
              </a:lnSpc>
              <a:spcBef>
                <a:spcPts val="2700"/>
              </a:spcBef>
              <a:buSzPts val="1800"/>
            </a:pPr>
            <a:r>
              <a:rPr lang="en-US" altLang="en-US" sz="2000">
                <a:highlight>
                  <a:schemeClr val="lt1"/>
                </a:highlight>
                <a:latin typeface="Times New Roman" panose="02020603050405020304" charset="0"/>
                <a:cs typeface="Times New Roman" panose="02020603050405020304" charset="0"/>
              </a:rPr>
              <a:t>Improved fraud detection accuracy</a:t>
            </a:r>
            <a:endParaRPr lang="en-US" altLang="en-US" sz="2000">
              <a:highlight>
                <a:schemeClr val="lt1"/>
              </a:highlight>
              <a:latin typeface="Times New Roman" panose="02020603050405020304" charset="0"/>
              <a:cs typeface="Times New Roman" panose="02020603050405020304" charset="0"/>
            </a:endParaRPr>
          </a:p>
          <a:p>
            <a:pPr marL="685800" lvl="0" algn="l" rtl="0">
              <a:lnSpc>
                <a:spcPct val="80000"/>
              </a:lnSpc>
              <a:spcBef>
                <a:spcPts val="2700"/>
              </a:spcBef>
              <a:buSzPts val="1800"/>
            </a:pPr>
            <a:r>
              <a:rPr lang="en-US" altLang="en-US" sz="2000">
                <a:highlight>
                  <a:schemeClr val="lt1"/>
                </a:highlight>
                <a:latin typeface="Times New Roman" panose="02020603050405020304" charset="0"/>
                <a:cs typeface="Times New Roman" panose="02020603050405020304" charset="0"/>
              </a:rPr>
              <a:t>Reduced manual monitoring</a:t>
            </a:r>
            <a:endParaRPr lang="en-US" altLang="en-US" sz="2000">
              <a:highlight>
                <a:schemeClr val="lt1"/>
              </a:highlight>
              <a:latin typeface="Times New Roman" panose="02020603050405020304" charset="0"/>
              <a:cs typeface="Times New Roman" panose="02020603050405020304" charset="0"/>
            </a:endParaRPr>
          </a:p>
          <a:p>
            <a:pPr marL="685800" lvl="0" algn="l" rtl="0">
              <a:lnSpc>
                <a:spcPct val="80000"/>
              </a:lnSpc>
              <a:spcBef>
                <a:spcPts val="2700"/>
              </a:spcBef>
              <a:buSzPts val="1800"/>
            </a:pPr>
            <a:r>
              <a:rPr lang="en-US" altLang="en-US" sz="2000">
                <a:highlight>
                  <a:schemeClr val="lt1"/>
                </a:highlight>
                <a:latin typeface="Times New Roman" panose="02020603050405020304" charset="0"/>
                <a:cs typeface="Times New Roman" panose="02020603050405020304" charset="0"/>
              </a:rPr>
              <a:t>Efficient analysis of large financial datasets</a:t>
            </a:r>
            <a:endParaRPr lang="en-US" altLang="en-US" sz="2000">
              <a:highlight>
                <a:schemeClr val="lt1"/>
              </a:highlight>
              <a:latin typeface="Times New Roman" panose="02020603050405020304" charset="0"/>
              <a:cs typeface="Times New Roman" panose="02020603050405020304" charset="0"/>
            </a:endParaRPr>
          </a:p>
          <a:p>
            <a:pPr marL="342900" lvl="0" indent="0" algn="l" rtl="0">
              <a:lnSpc>
                <a:spcPct val="100000"/>
              </a:lnSpc>
              <a:spcBef>
                <a:spcPts val="2700"/>
              </a:spcBef>
              <a:spcAft>
                <a:spcPts val="0"/>
              </a:spcAft>
              <a:buSzPts val="1800"/>
              <a:buNone/>
            </a:pPr>
            <a:r>
              <a:rPr lang="en-US" altLang="en-US" sz="2000" b="1">
                <a:highlight>
                  <a:schemeClr val="lt1"/>
                </a:highlight>
                <a:latin typeface="Times New Roman" panose="02020603050405020304" charset="0"/>
                <a:cs typeface="Times New Roman" panose="02020603050405020304" charset="0"/>
              </a:rPr>
              <a:t>Performance Metrics:</a:t>
            </a:r>
            <a:endParaRPr lang="en-US" altLang="en-US" sz="2000" b="1">
              <a:highlight>
                <a:schemeClr val="lt1"/>
              </a:highlight>
              <a:latin typeface="Times New Roman" panose="02020603050405020304" charset="0"/>
              <a:cs typeface="Times New Roman" panose="02020603050405020304" charset="0"/>
            </a:endParaRPr>
          </a:p>
          <a:p>
            <a:pPr marL="628650" lvl="0" indent="-285750" algn="l" rtl="0">
              <a:lnSpc>
                <a:spcPct val="100000"/>
              </a:lnSpc>
              <a:spcBef>
                <a:spcPts val="2700"/>
              </a:spcBef>
              <a:spcAft>
                <a:spcPts val="0"/>
              </a:spcAft>
              <a:buSzPts val="1800"/>
            </a:pPr>
            <a:r>
              <a:rPr lang="en-US" altLang="en-US" sz="2000">
                <a:highlight>
                  <a:schemeClr val="lt1"/>
                </a:highlight>
                <a:latin typeface="Times New Roman" panose="02020603050405020304" charset="0"/>
                <a:cs typeface="Times New Roman" panose="02020603050405020304" charset="0"/>
              </a:rPr>
              <a:t>Detection Accuracy: &gt; 90%</a:t>
            </a:r>
            <a:endParaRPr lang="en-US" altLang="en-US" sz="2000">
              <a:highlight>
                <a:schemeClr val="lt1"/>
              </a:highlight>
              <a:latin typeface="Times New Roman" panose="02020603050405020304" charset="0"/>
              <a:cs typeface="Times New Roman" panose="02020603050405020304" charset="0"/>
            </a:endParaRPr>
          </a:p>
          <a:p>
            <a:pPr marL="628650" lvl="0" indent="-285750" algn="l" rtl="0">
              <a:lnSpc>
                <a:spcPct val="100000"/>
              </a:lnSpc>
              <a:spcBef>
                <a:spcPts val="2700"/>
              </a:spcBef>
              <a:spcAft>
                <a:spcPts val="0"/>
              </a:spcAft>
              <a:buSzPts val="1800"/>
            </a:pPr>
            <a:r>
              <a:rPr lang="en-US" altLang="en-US" sz="2000">
                <a:highlight>
                  <a:schemeClr val="lt1"/>
                </a:highlight>
                <a:latin typeface="Times New Roman" panose="02020603050405020304" charset="0"/>
                <a:cs typeface="Times New Roman" panose="02020603050405020304" charset="0"/>
              </a:rPr>
              <a:t>Processing Time: Fast</a:t>
            </a:r>
            <a:endParaRPr lang="en-US" altLang="en-US" sz="2000">
              <a:highlight>
                <a:schemeClr val="lt1"/>
              </a:highlight>
              <a:latin typeface="Times New Roman" panose="02020603050405020304" charset="0"/>
              <a:cs typeface="Times New Roman" panose="02020603050405020304" charset="0"/>
            </a:endParaRPr>
          </a:p>
          <a:p>
            <a:pPr marL="628650" lvl="0" indent="-285750" algn="l" rtl="0">
              <a:lnSpc>
                <a:spcPct val="100000"/>
              </a:lnSpc>
              <a:spcBef>
                <a:spcPts val="2700"/>
              </a:spcBef>
              <a:spcAft>
                <a:spcPts val="0"/>
              </a:spcAft>
              <a:buSzPts val="1800"/>
            </a:pPr>
            <a:r>
              <a:rPr lang="en-US" altLang="en-US" sz="2000">
                <a:highlight>
                  <a:schemeClr val="lt1"/>
                </a:highlight>
                <a:latin typeface="Times New Roman" panose="02020603050405020304" charset="0"/>
                <a:cs typeface="Times New Roman" panose="02020603050405020304" charset="0"/>
              </a:rPr>
              <a:t>Fraud Detection Efficiency: High</a:t>
            </a:r>
            <a:endParaRPr lang="en-US" altLang="en-US" sz="2000">
              <a:highlight>
                <a:schemeClr val="lt1"/>
              </a:highlight>
              <a:latin typeface="Times New Roman" panose="02020603050405020304" charset="0"/>
              <a:cs typeface="Times New Roman" panose="02020603050405020304" charset="0"/>
            </a:endParaRPr>
          </a:p>
        </p:txBody>
      </p:sp>
      <p:pic>
        <p:nvPicPr>
          <p:cNvPr id="142" name="Google Shape;142;p8"/>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43" name="Google Shape;143;p8"/>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lang="en-IN" altLang="en-US"/>
              <a:t>CODE/OUTPUT</a:t>
            </a:r>
            <a:endParaRPr lang="en-IN" altLang="en-US"/>
          </a:p>
        </p:txBody>
      </p:sp>
      <p:sp>
        <p:nvSpPr>
          <p:cNvPr id="3" name="Text Placeholder 2"/>
          <p:cNvSpPr/>
          <p:nvPr>
            <p:ph type="body" idx="1"/>
          </p:nvPr>
        </p:nvSpPr>
        <p:spPr>
          <a:xfrm>
            <a:off x="235585" y="1662430"/>
            <a:ext cx="11151235" cy="4464050"/>
          </a:xfrm>
        </p:spPr>
        <p:txBody>
          <a:bodyPr/>
          <a:p>
            <a:endParaRPr lang="en-US"/>
          </a:p>
        </p:txBody>
      </p:sp>
      <p:pic>
        <p:nvPicPr>
          <p:cNvPr id="8" name="Picture 7"/>
          <p:cNvPicPr>
            <a:picLocks noChangeAspect="1"/>
          </p:cNvPicPr>
          <p:nvPr/>
        </p:nvPicPr>
        <p:blipFill>
          <a:blip r:embed="rId1"/>
          <a:stretch>
            <a:fillRect/>
          </a:stretch>
        </p:blipFill>
        <p:spPr>
          <a:xfrm>
            <a:off x="6096000" y="3751580"/>
            <a:ext cx="5667375" cy="2851785"/>
          </a:xfrm>
          <a:prstGeom prst="rect">
            <a:avLst/>
          </a:prstGeom>
        </p:spPr>
      </p:pic>
      <p:pic>
        <p:nvPicPr>
          <p:cNvPr id="9" name="Picture 8" descr="Screenshot 2026-02-11 094603"/>
          <p:cNvPicPr>
            <a:picLocks noChangeAspect="1"/>
          </p:cNvPicPr>
          <p:nvPr/>
        </p:nvPicPr>
        <p:blipFill>
          <a:blip r:embed="rId2"/>
          <a:stretch>
            <a:fillRect/>
          </a:stretch>
        </p:blipFill>
        <p:spPr>
          <a:xfrm>
            <a:off x="6096000" y="1194435"/>
            <a:ext cx="5667375" cy="2372995"/>
          </a:xfrm>
          <a:prstGeom prst="rect">
            <a:avLst/>
          </a:prstGeom>
        </p:spPr>
      </p:pic>
      <p:pic>
        <p:nvPicPr>
          <p:cNvPr id="11" name="Picture 10" descr="Screenshot 2026-02-11 094508"/>
          <p:cNvPicPr>
            <a:picLocks noChangeAspect="1"/>
          </p:cNvPicPr>
          <p:nvPr/>
        </p:nvPicPr>
        <p:blipFill>
          <a:blip r:embed="rId3"/>
          <a:stretch>
            <a:fillRect/>
          </a:stretch>
        </p:blipFill>
        <p:spPr>
          <a:xfrm>
            <a:off x="485140" y="1194435"/>
            <a:ext cx="5490845" cy="2965450"/>
          </a:xfrm>
          <a:prstGeom prst="rect">
            <a:avLst/>
          </a:prstGeom>
        </p:spPr>
      </p:pic>
      <p:pic>
        <p:nvPicPr>
          <p:cNvPr id="12" name="Picture 11" descr="Screenshot 2026-02-11 094533"/>
          <p:cNvPicPr>
            <a:picLocks noChangeAspect="1"/>
          </p:cNvPicPr>
          <p:nvPr/>
        </p:nvPicPr>
        <p:blipFill>
          <a:blip r:embed="rId4"/>
          <a:stretch>
            <a:fillRect/>
          </a:stretch>
        </p:blipFill>
        <p:spPr>
          <a:xfrm>
            <a:off x="485140" y="4159885"/>
            <a:ext cx="5490845" cy="24517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9"/>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Challenges &amp; Limitations</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1" name="Google Shape;151;p9"/>
          <p:cNvSpPr txBox="1"/>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fontScale="55000"/>
          </a:bodyPr>
          <a:lstStyle/>
          <a:p>
            <a:pPr marL="0" lvl="0" indent="0" algn="l" rtl="0">
              <a:lnSpc>
                <a:spcPct val="65000"/>
              </a:lnSpc>
              <a:spcBef>
                <a:spcPts val="3300"/>
              </a:spcBef>
              <a:buSzPct val="225000"/>
              <a:buNone/>
            </a:pPr>
            <a:r>
              <a:rPr lang="en-US" altLang="en-US" b="1">
                <a:latin typeface="Times New Roman" panose="02020603050405020304" charset="0"/>
                <a:cs typeface="Times New Roman" panose="02020603050405020304" charset="0"/>
              </a:rPr>
              <a:t>Challenges:</a:t>
            </a:r>
            <a:endParaRPr lang="en-US" altLang="en-US" b="1">
              <a:latin typeface="Times New Roman" panose="02020603050405020304" charset="0"/>
              <a:cs typeface="Times New Roman" panose="02020603050405020304" charset="0"/>
            </a:endParaRPr>
          </a:p>
          <a:p>
            <a:pPr marL="285750" lvl="0" indent="-285750" algn="l" rtl="0">
              <a:lnSpc>
                <a:spcPct val="65000"/>
              </a:lnSpc>
              <a:spcBef>
                <a:spcPts val="3300"/>
              </a:spcBef>
              <a:buSzPct val="225000"/>
            </a:pPr>
            <a:r>
              <a:rPr lang="en-US" altLang="en-US">
                <a:latin typeface="Times New Roman" panose="02020603050405020304" charset="0"/>
                <a:cs typeface="Times New Roman" panose="02020603050405020304" charset="0"/>
              </a:rPr>
              <a:t>Handling large financial datasets</a:t>
            </a:r>
            <a:endParaRPr lang="en-US" altLang="en-US">
              <a:latin typeface="Times New Roman" panose="02020603050405020304" charset="0"/>
              <a:cs typeface="Times New Roman" panose="02020603050405020304" charset="0"/>
            </a:endParaRPr>
          </a:p>
          <a:p>
            <a:pPr marL="285750" lvl="0" indent="-285750" algn="l" rtl="0">
              <a:lnSpc>
                <a:spcPct val="65000"/>
              </a:lnSpc>
              <a:spcBef>
                <a:spcPts val="3300"/>
              </a:spcBef>
              <a:buSzPct val="225000"/>
            </a:pPr>
            <a:r>
              <a:rPr lang="en-US" altLang="en-US">
                <a:latin typeface="Times New Roman" panose="02020603050405020304" charset="0"/>
                <a:cs typeface="Times New Roman" panose="02020603050405020304" charset="0"/>
              </a:rPr>
              <a:t>Data preprocessing complexity</a:t>
            </a:r>
            <a:endParaRPr lang="en-US" altLang="en-US">
              <a:latin typeface="Times New Roman" panose="02020603050405020304" charset="0"/>
              <a:cs typeface="Times New Roman" panose="02020603050405020304" charset="0"/>
            </a:endParaRPr>
          </a:p>
          <a:p>
            <a:pPr marL="285750" lvl="0" indent="-285750" algn="l" rtl="0">
              <a:lnSpc>
                <a:spcPct val="65000"/>
              </a:lnSpc>
              <a:spcBef>
                <a:spcPts val="3300"/>
              </a:spcBef>
              <a:buSzPct val="225000"/>
            </a:pPr>
            <a:r>
              <a:rPr lang="en-US" altLang="en-US">
                <a:latin typeface="Times New Roman" panose="02020603050405020304" charset="0"/>
                <a:cs typeface="Times New Roman" panose="02020603050405020304" charset="0"/>
              </a:rPr>
              <a:t>False positive detection</a:t>
            </a:r>
            <a:endParaRPr lang="en-US" altLang="en-US">
              <a:latin typeface="Times New Roman" panose="02020603050405020304" charset="0"/>
              <a:cs typeface="Times New Roman" panose="02020603050405020304" charset="0"/>
            </a:endParaRPr>
          </a:p>
          <a:p>
            <a:pPr marL="0" lvl="0" indent="0" algn="l" rtl="0">
              <a:lnSpc>
                <a:spcPct val="65000"/>
              </a:lnSpc>
              <a:spcBef>
                <a:spcPts val="3300"/>
              </a:spcBef>
              <a:buSzPct val="225000"/>
              <a:buNone/>
            </a:pPr>
            <a:r>
              <a:rPr lang="en-US" altLang="en-US" b="1">
                <a:latin typeface="Times New Roman" panose="02020603050405020304" charset="0"/>
                <a:cs typeface="Times New Roman" panose="02020603050405020304" charset="0"/>
              </a:rPr>
              <a:t>Limitations:</a:t>
            </a:r>
            <a:endParaRPr lang="en-US" altLang="en-US" b="1">
              <a:latin typeface="Times New Roman" panose="02020603050405020304" charset="0"/>
              <a:cs typeface="Times New Roman" panose="02020603050405020304" charset="0"/>
            </a:endParaRPr>
          </a:p>
          <a:p>
            <a:pPr lvl="0" indent="-457200" algn="l" rtl="0">
              <a:lnSpc>
                <a:spcPct val="65000"/>
              </a:lnSpc>
              <a:spcBef>
                <a:spcPts val="3300"/>
              </a:spcBef>
              <a:buSzPct val="225000"/>
            </a:pPr>
            <a:r>
              <a:rPr lang="en-US" altLang="en-US">
                <a:latin typeface="Times New Roman" panose="02020603050405020304" charset="0"/>
                <a:cs typeface="Times New Roman" panose="02020603050405020304" charset="0"/>
              </a:rPr>
              <a:t>Requires large dataset for accuracy</a:t>
            </a:r>
            <a:endParaRPr lang="en-US" altLang="en-US">
              <a:latin typeface="Times New Roman" panose="02020603050405020304" charset="0"/>
              <a:cs typeface="Times New Roman" panose="02020603050405020304" charset="0"/>
            </a:endParaRPr>
          </a:p>
          <a:p>
            <a:pPr lvl="0" indent="-457200" algn="l" rtl="0">
              <a:lnSpc>
                <a:spcPct val="65000"/>
              </a:lnSpc>
              <a:spcBef>
                <a:spcPts val="3300"/>
              </a:spcBef>
              <a:buSzPct val="225000"/>
            </a:pPr>
            <a:r>
              <a:rPr lang="en-US" altLang="en-US">
                <a:latin typeface="Times New Roman" panose="02020603050405020304" charset="0"/>
                <a:cs typeface="Times New Roman" panose="02020603050405020304" charset="0"/>
              </a:rPr>
              <a:t>Needs proper data warehouse setup</a:t>
            </a:r>
            <a:endParaRPr lang="en-US" altLang="en-US">
              <a:latin typeface="Times New Roman" panose="02020603050405020304" charset="0"/>
              <a:cs typeface="Times New Roman" panose="02020603050405020304" charset="0"/>
            </a:endParaRPr>
          </a:p>
          <a:p>
            <a:pPr lvl="0" indent="-457200" algn="l" rtl="0">
              <a:lnSpc>
                <a:spcPct val="65000"/>
              </a:lnSpc>
              <a:spcBef>
                <a:spcPts val="3300"/>
              </a:spcBef>
              <a:buSzPct val="225000"/>
            </a:pPr>
            <a:r>
              <a:rPr lang="en-US" altLang="en-US">
                <a:latin typeface="Times New Roman" panose="02020603050405020304" charset="0"/>
                <a:cs typeface="Times New Roman" panose="02020603050405020304" charset="0"/>
              </a:rPr>
              <a:t>May require model training updates</a:t>
            </a:r>
            <a:endParaRPr lang="en-US" altLang="en-US">
              <a:latin typeface="Times New Roman" panose="02020603050405020304" charset="0"/>
              <a:cs typeface="Times New Roman" panose="02020603050405020304" charset="0"/>
            </a:endParaRPr>
          </a:p>
          <a:p>
            <a:pPr lvl="0" indent="-457200" algn="l" rtl="0">
              <a:lnSpc>
                <a:spcPct val="65000"/>
              </a:lnSpc>
              <a:spcBef>
                <a:spcPts val="3300"/>
              </a:spcBef>
              <a:buSzPct val="225000"/>
            </a:pPr>
            <a:endParaRPr lang="en-US" altLang="en-US">
              <a:latin typeface="Times New Roman" panose="02020603050405020304" charset="0"/>
              <a:cs typeface="Times New Roman" panose="02020603050405020304" charset="0"/>
            </a:endParaRPr>
          </a:p>
        </p:txBody>
      </p:sp>
      <p:pic>
        <p:nvPicPr>
          <p:cNvPr id="152" name="Google Shape;152;p9"/>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53" name="Google Shape;153;p9"/>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Future Scope</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9" name="Google Shape;159;p10"/>
          <p:cNvSpPr txBox="1"/>
          <p:nvPr>
            <p:ph type="body" idx="1"/>
          </p:nvPr>
        </p:nvSpPr>
        <p:spPr>
          <a:xfrm>
            <a:off x="609600" y="986790"/>
            <a:ext cx="10972800" cy="5074285"/>
          </a:xfrm>
          <a:prstGeom prst="rect">
            <a:avLst/>
          </a:prstGeom>
          <a:noFill/>
          <a:ln>
            <a:noFill/>
          </a:ln>
        </p:spPr>
        <p:txBody>
          <a:bodyPr spcFirstLastPara="1" wrap="square" lIns="91425" tIns="45700" rIns="91425" bIns="45700" anchor="t" anchorCtr="0">
            <a:noAutofit/>
          </a:bodyPr>
          <a:lstStyle/>
          <a:p>
            <a:pPr marL="342900" lvl="0" indent="0" algn="l" rtl="0">
              <a:lnSpc>
                <a:spcPct val="80000"/>
              </a:lnSpc>
              <a:spcBef>
                <a:spcPts val="2700"/>
              </a:spcBef>
              <a:spcAft>
                <a:spcPts val="0"/>
              </a:spcAft>
              <a:buSzPts val="1800"/>
              <a:buNone/>
            </a:pPr>
            <a:endParaRPr lang="en-US" altLang="en-US" sz="1800" b="1">
              <a:latin typeface="Times New Roman" panose="02020603050405020304" charset="0"/>
              <a:cs typeface="Times New Roman" panose="02020603050405020304" charset="0"/>
            </a:endParaRPr>
          </a:p>
          <a:p>
            <a:pPr marL="342900" lvl="0" indent="0" algn="l" rtl="0">
              <a:lnSpc>
                <a:spcPct val="80000"/>
              </a:lnSpc>
              <a:spcBef>
                <a:spcPts val="2700"/>
              </a:spcBef>
              <a:spcAft>
                <a:spcPts val="0"/>
              </a:spcAft>
              <a:buSzPts val="1800"/>
              <a:buNone/>
            </a:pPr>
            <a:r>
              <a:rPr lang="en-US" altLang="en-US" sz="2000" b="1">
                <a:latin typeface="Times New Roman" panose="02020603050405020304" charset="0"/>
                <a:cs typeface="Times New Roman" panose="02020603050405020304" charset="0"/>
              </a:rPr>
              <a:t>Future Enhancements:</a:t>
            </a:r>
            <a:endParaRPr lang="en-US" altLang="en-US" sz="2000" b="1">
              <a:latin typeface="Times New Roman" panose="02020603050405020304" charset="0"/>
              <a:cs typeface="Times New Roman" panose="02020603050405020304" charset="0"/>
            </a:endParaRPr>
          </a:p>
          <a:p>
            <a:pPr marL="685800" lvl="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Real-time fraud detection system</a:t>
            </a:r>
            <a:endParaRPr lang="en-US" altLang="en-US" sz="2000">
              <a:latin typeface="Times New Roman" panose="02020603050405020304" charset="0"/>
              <a:cs typeface="Times New Roman" panose="02020603050405020304" charset="0"/>
            </a:endParaRPr>
          </a:p>
          <a:p>
            <a:pPr marL="685800" lvl="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Integration with banking systems</a:t>
            </a:r>
            <a:endParaRPr lang="en-US" altLang="en-US" sz="2000">
              <a:latin typeface="Times New Roman" panose="02020603050405020304" charset="0"/>
              <a:cs typeface="Times New Roman" panose="02020603050405020304" charset="0"/>
            </a:endParaRPr>
          </a:p>
          <a:p>
            <a:pPr marL="685800" lvl="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AI and deep learning-based detection</a:t>
            </a:r>
            <a:endParaRPr lang="en-US" altLang="en-US" sz="2000">
              <a:latin typeface="Times New Roman" panose="02020603050405020304" charset="0"/>
              <a:cs typeface="Times New Roman" panose="02020603050405020304" charset="0"/>
            </a:endParaRPr>
          </a:p>
          <a:p>
            <a:pPr marL="685800" lvl="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Cloud-based fraud monitoring</a:t>
            </a:r>
            <a:endParaRPr lang="en-US" altLang="en-US" sz="2000">
              <a:latin typeface="Times New Roman" panose="02020603050405020304" charset="0"/>
              <a:cs typeface="Times New Roman" panose="02020603050405020304" charset="0"/>
            </a:endParaRPr>
          </a:p>
          <a:p>
            <a:pPr marL="342900" lvl="0" indent="0" algn="l" rtl="0">
              <a:lnSpc>
                <a:spcPct val="80000"/>
              </a:lnSpc>
              <a:spcBef>
                <a:spcPts val="2700"/>
              </a:spcBef>
              <a:spcAft>
                <a:spcPts val="0"/>
              </a:spcAft>
              <a:buSzPts val="1800"/>
              <a:buNone/>
            </a:pPr>
            <a:r>
              <a:rPr lang="en-US" altLang="en-US" sz="2000" b="1">
                <a:latin typeface="Times New Roman" panose="02020603050405020304" charset="0"/>
                <a:cs typeface="Times New Roman" panose="02020603050405020304" charset="0"/>
              </a:rPr>
              <a:t>Possible Research Areas:</a:t>
            </a:r>
            <a:endParaRPr lang="en-US" altLang="en-US" sz="2000" b="1">
              <a:latin typeface="Times New Roman" panose="02020603050405020304" charset="0"/>
              <a:cs typeface="Times New Roman" panose="02020603050405020304" charset="0"/>
            </a:endParaRPr>
          </a:p>
          <a:p>
            <a:pPr marL="628650" lvl="0" indent="-28575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AI-based fraud prediction</a:t>
            </a:r>
            <a:endParaRPr lang="en-US" altLang="en-US" sz="2000">
              <a:latin typeface="Times New Roman" panose="02020603050405020304" charset="0"/>
              <a:cs typeface="Times New Roman" panose="02020603050405020304" charset="0"/>
            </a:endParaRPr>
          </a:p>
          <a:p>
            <a:pPr marL="628650" lvl="0" indent="-28575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Real-time anomaly detection</a:t>
            </a:r>
            <a:endParaRPr lang="en-US" altLang="en-US" sz="2000">
              <a:latin typeface="Times New Roman" panose="02020603050405020304" charset="0"/>
              <a:cs typeface="Times New Roman" panose="02020603050405020304" charset="0"/>
            </a:endParaRPr>
          </a:p>
          <a:p>
            <a:pPr marL="628650" lvl="0" indent="-285750" algn="l" rtl="0">
              <a:lnSpc>
                <a:spcPct val="80000"/>
              </a:lnSpc>
              <a:spcBef>
                <a:spcPts val="2700"/>
              </a:spcBef>
              <a:spcAft>
                <a:spcPts val="0"/>
              </a:spcAft>
              <a:buSzPts val="1800"/>
            </a:pPr>
            <a:r>
              <a:rPr lang="en-US" altLang="en-US" sz="2000">
                <a:latin typeface="Times New Roman" panose="02020603050405020304" charset="0"/>
                <a:cs typeface="Times New Roman" panose="02020603050405020304" charset="0"/>
              </a:rPr>
              <a:t>Secure financial transaction systems</a:t>
            </a:r>
            <a:endParaRPr lang="en-US" altLang="en-US" sz="2000">
              <a:latin typeface="Times New Roman" panose="02020603050405020304" charset="0"/>
              <a:cs typeface="Times New Roman" panose="02020603050405020304" charset="0"/>
            </a:endParaRPr>
          </a:p>
        </p:txBody>
      </p:sp>
      <p:pic>
        <p:nvPicPr>
          <p:cNvPr id="160" name="Google Shape;160;p10"/>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61" name="Google Shape;161;p10"/>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Conclusion</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7" name="Google Shape;167;p11"/>
          <p:cNvSpPr txBox="1"/>
          <p:nvPr>
            <p:ph type="body" idx="1"/>
          </p:nvPr>
        </p:nvSpPr>
        <p:spPr>
          <a:xfrm>
            <a:off x="609600" y="1534160"/>
            <a:ext cx="10972800" cy="4592320"/>
          </a:xfrm>
          <a:prstGeom prst="rect">
            <a:avLst/>
          </a:prstGeom>
          <a:noFill/>
          <a:ln>
            <a:noFill/>
          </a:ln>
        </p:spPr>
        <p:txBody>
          <a:bodyPr spcFirstLastPara="1" wrap="square" lIns="91425" tIns="45700" rIns="91425" bIns="45700" anchor="t" anchorCtr="0">
            <a:noAutofit/>
          </a:bodyPr>
          <a:lstStyle/>
          <a:p>
            <a:pPr marL="342900" lvl="0" indent="0" algn="l" rtl="0">
              <a:lnSpc>
                <a:spcPct val="100000"/>
              </a:lnSpc>
              <a:spcBef>
                <a:spcPts val="640"/>
              </a:spcBef>
              <a:spcAft>
                <a:spcPts val="0"/>
              </a:spcAft>
              <a:buSzPts val="1800"/>
              <a:buNone/>
            </a:pPr>
            <a:r>
              <a:rPr lang="en-US" altLang="en-US" sz="2800" b="1">
                <a:highlight>
                  <a:schemeClr val="lt1"/>
                </a:highlight>
              </a:rPr>
              <a:t>Summary:</a:t>
            </a:r>
            <a:endParaRPr lang="en-US" altLang="en-US" sz="2800" b="1">
              <a:highlight>
                <a:schemeClr val="lt1"/>
              </a:highlight>
            </a:endParaRPr>
          </a:p>
          <a:p>
            <a:pPr marL="342900" lvl="0" indent="0" algn="l" rtl="0">
              <a:lnSpc>
                <a:spcPct val="100000"/>
              </a:lnSpc>
              <a:spcBef>
                <a:spcPts val="640"/>
              </a:spcBef>
              <a:spcAft>
                <a:spcPts val="0"/>
              </a:spcAft>
              <a:buSzPts val="1800"/>
              <a:buNone/>
            </a:pPr>
            <a:r>
              <a:rPr lang="en-US" altLang="en-US" sz="2400">
                <a:highlight>
                  <a:schemeClr val="lt1"/>
                </a:highlight>
                <a:latin typeface="Times New Roman" panose="02020603050405020304" charset="0"/>
                <a:cs typeface="Times New Roman" panose="02020603050405020304" charset="0"/>
              </a:rPr>
              <a:t>The Fraud Detection System using Data Mining successfully identifies fraudulent financial transactions by analyzing data stored in a financial data warehouse. The system improves fraud detection accuracy, reduces manual effort, and enhances financial security.</a:t>
            </a:r>
            <a:endParaRPr lang="en-US" altLang="en-US" sz="2400">
              <a:highlight>
                <a:schemeClr val="lt1"/>
              </a:highlight>
              <a:latin typeface="Times New Roman" panose="02020603050405020304" charset="0"/>
              <a:cs typeface="Times New Roman" panose="02020603050405020304" charset="0"/>
            </a:endParaRPr>
          </a:p>
          <a:p>
            <a:pPr marL="342900" lvl="0" indent="0" algn="l" rtl="0">
              <a:lnSpc>
                <a:spcPct val="100000"/>
              </a:lnSpc>
              <a:spcBef>
                <a:spcPts val="640"/>
              </a:spcBef>
              <a:spcAft>
                <a:spcPts val="0"/>
              </a:spcAft>
              <a:buSzPts val="1800"/>
              <a:buNone/>
            </a:pPr>
            <a:endParaRPr lang="en-US" altLang="en-US" sz="2800" b="1">
              <a:highlight>
                <a:schemeClr val="lt1"/>
              </a:highlight>
              <a:latin typeface="Times New Roman" panose="02020603050405020304" charset="0"/>
              <a:cs typeface="Times New Roman" panose="02020603050405020304" charset="0"/>
            </a:endParaRPr>
          </a:p>
          <a:p>
            <a:pPr marL="342900" lvl="0" indent="0" algn="l" rtl="0">
              <a:lnSpc>
                <a:spcPct val="100000"/>
              </a:lnSpc>
              <a:spcBef>
                <a:spcPts val="640"/>
              </a:spcBef>
              <a:spcAft>
                <a:spcPts val="0"/>
              </a:spcAft>
              <a:buSzPts val="1800"/>
              <a:buNone/>
            </a:pPr>
            <a:r>
              <a:rPr lang="en-US" altLang="en-US" sz="2800" b="1">
                <a:highlight>
                  <a:schemeClr val="lt1"/>
                </a:highlight>
                <a:latin typeface="Times New Roman" panose="02020603050405020304" charset="0"/>
                <a:cs typeface="Times New Roman" panose="02020603050405020304" charset="0"/>
              </a:rPr>
              <a:t>Final Thoughts:</a:t>
            </a:r>
            <a:endParaRPr lang="en-US" altLang="en-US" sz="1800" b="1">
              <a:highlight>
                <a:schemeClr val="lt1"/>
              </a:highlight>
              <a:latin typeface="Times New Roman" panose="02020603050405020304" charset="0"/>
              <a:cs typeface="Times New Roman" panose="02020603050405020304" charset="0"/>
            </a:endParaRPr>
          </a:p>
          <a:p>
            <a:pPr marL="342900" lvl="0" indent="0" algn="l" rtl="0">
              <a:lnSpc>
                <a:spcPct val="100000"/>
              </a:lnSpc>
              <a:spcBef>
                <a:spcPts val="640"/>
              </a:spcBef>
              <a:spcAft>
                <a:spcPts val="0"/>
              </a:spcAft>
              <a:buSzPts val="1800"/>
              <a:buNone/>
            </a:pPr>
            <a:r>
              <a:rPr lang="en-US" altLang="en-US" sz="2400">
                <a:highlight>
                  <a:schemeClr val="lt1"/>
                </a:highlight>
                <a:latin typeface="Times New Roman" panose="02020603050405020304" charset="0"/>
                <a:cs typeface="Times New Roman" panose="02020603050405020304" charset="0"/>
              </a:rPr>
              <a:t>This project demonstrates how data mining and financial data warehousing can be effectively used to detect fraud, making it useful for banks, financial institutions, and online payment systems.</a:t>
            </a:r>
            <a:endParaRPr lang="en-US" altLang="en-US" sz="2400">
              <a:highlight>
                <a:schemeClr val="lt1"/>
              </a:highlight>
              <a:latin typeface="Times New Roman" panose="02020603050405020304" charset="0"/>
              <a:cs typeface="Times New Roman" panose="02020603050405020304" charset="0"/>
            </a:endParaRPr>
          </a:p>
        </p:txBody>
      </p:sp>
      <p:pic>
        <p:nvPicPr>
          <p:cNvPr id="168" name="Google Shape;168;p11"/>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69" name="Google Shape;169;p11"/>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References</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5" name="Google Shape;175;p12"/>
          <p:cNvSpPr txBox="1"/>
          <p:nvPr>
            <p:ph type="body" idx="1"/>
          </p:nvPr>
        </p:nvSpPr>
        <p:spPr>
          <a:xfrm>
            <a:off x="609600" y="1534501"/>
            <a:ext cx="10972800" cy="452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2700"/>
              </a:spcBef>
              <a:spcAft>
                <a:spcPts val="0"/>
              </a:spcAft>
              <a:buSzPts val="1800"/>
              <a:buNone/>
            </a:pPr>
            <a:r>
              <a:rPr lang="en-IN"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1] A. Fiore, F. De Santis, F. Perla, P. Zanetti, and F. Palmieri, “Using Generative Adversarial Networks for Improving Classification Effectiveness in Credit Card Fraud Detection,” Information Sciences, vol. 479, pp. 448–455, 2021.</a:t>
            </a:r>
            <a:endParaRPr lang="en-US" altLang="en-US" sz="2000">
              <a:latin typeface="Times New Roman" panose="02020603050405020304" charset="0"/>
              <a:cs typeface="Times New Roman" panose="02020603050405020304" charset="0"/>
            </a:endParaRPr>
          </a:p>
          <a:p>
            <a:pPr marL="0" lvl="0" indent="0" algn="l" rtl="0">
              <a:lnSpc>
                <a:spcPct val="100000"/>
              </a:lnSpc>
              <a:spcBef>
                <a:spcPts val="2700"/>
              </a:spcBef>
              <a:spcAft>
                <a:spcPts val="0"/>
              </a:spcAft>
              <a:buSzPts val="1800"/>
              <a:buNone/>
            </a:pPr>
            <a:r>
              <a:rPr lang="en-US" altLang="en-US" sz="2000">
                <a:latin typeface="Times New Roman" panose="02020603050405020304" charset="0"/>
                <a:cs typeface="Times New Roman" panose="02020603050405020304" charset="0"/>
              </a:rPr>
              <a:t>[2] S. Roy and J. Sun, “Deep Learning Detects Fraudulent Transactions in Financial Data,” IEEE Transactions on Neural Networks and Learning Systems, vol. 33, no. 2, pp. 689–701, Feb. 2022.</a:t>
            </a:r>
            <a:endParaRPr lang="en-US" altLang="en-US" sz="2000">
              <a:latin typeface="Times New Roman" panose="02020603050405020304" charset="0"/>
              <a:cs typeface="Times New Roman" panose="02020603050405020304" charset="0"/>
            </a:endParaRPr>
          </a:p>
          <a:p>
            <a:pPr marL="0" lvl="0" indent="0" algn="l" rtl="0">
              <a:lnSpc>
                <a:spcPct val="100000"/>
              </a:lnSpc>
              <a:spcBef>
                <a:spcPts val="2700"/>
              </a:spcBef>
              <a:spcAft>
                <a:spcPts val="0"/>
              </a:spcAft>
              <a:buSzPts val="1800"/>
              <a:buNone/>
            </a:pPr>
            <a:r>
              <a:rPr lang="en-US" altLang="en-US" sz="2000">
                <a:latin typeface="Times New Roman" panose="02020603050405020304" charset="0"/>
                <a:cs typeface="Times New Roman" panose="02020603050405020304" charset="0"/>
              </a:rPr>
              <a:t>[3] IEEE, “Financial Fraud Detection Using Machine Learning and Data Mining Techniques,” IEEE Xplore Digital Library, 2023. [Online]. Available: https://ieeexplore.ieee.org</a:t>
            </a:r>
            <a:endParaRPr lang="en-US" altLang="en-US" sz="2000">
              <a:latin typeface="Times New Roman" panose="02020603050405020304" charset="0"/>
              <a:cs typeface="Times New Roman" panose="02020603050405020304" charset="0"/>
            </a:endParaRPr>
          </a:p>
          <a:p>
            <a:pPr marL="0" lvl="0" indent="0" algn="l" rtl="0">
              <a:lnSpc>
                <a:spcPct val="100000"/>
              </a:lnSpc>
              <a:spcBef>
                <a:spcPts val="2700"/>
              </a:spcBef>
              <a:spcAft>
                <a:spcPts val="0"/>
              </a:spcAft>
              <a:buSzPts val="1800"/>
              <a:buNone/>
            </a:pPr>
            <a:r>
              <a:rPr lang="en-US" altLang="en-US" sz="2000">
                <a:latin typeface="Times New Roman" panose="02020603050405020304" charset="0"/>
                <a:cs typeface="Times New Roman" panose="02020603050405020304" charset="0"/>
              </a:rPr>
              <a:t>[4] Python Software Foundation, “Python Documentation,” Version 3.12, 2024. [Online]. Available: https://docs.python.org/3/</a:t>
            </a:r>
            <a:endParaRPr lang="en-US" altLang="en-US" sz="2000">
              <a:latin typeface="Times New Roman" panose="02020603050405020304" charset="0"/>
              <a:cs typeface="Times New Roman" panose="02020603050405020304" charset="0"/>
            </a:endParaRPr>
          </a:p>
          <a:p>
            <a:pPr marL="0" lvl="0" indent="0" algn="l" rtl="0">
              <a:lnSpc>
                <a:spcPct val="100000"/>
              </a:lnSpc>
              <a:spcBef>
                <a:spcPts val="2700"/>
              </a:spcBef>
              <a:spcAft>
                <a:spcPts val="0"/>
              </a:spcAft>
              <a:buSzPts val="1800"/>
              <a:buNone/>
            </a:pPr>
            <a:r>
              <a:rPr lang="en-US" altLang="en-US" sz="2000">
                <a:latin typeface="Times New Roman" panose="02020603050405020304" charset="0"/>
                <a:cs typeface="Times New Roman" panose="02020603050405020304" charset="0"/>
              </a:rPr>
              <a:t>[5] Scikit-learn Developers, “Scikit-learn: Machine Learning in Python,” Version 1.4, 2024. [Online]. Available: https://scikit-learn.org/stable/</a:t>
            </a:r>
            <a:endParaRPr lang="en-US" altLang="en-US" sz="2000">
              <a:latin typeface="Times New Roman" panose="02020603050405020304" charset="0"/>
              <a:cs typeface="Times New Roman" panose="02020603050405020304" charset="0"/>
            </a:endParaRPr>
          </a:p>
        </p:txBody>
      </p:sp>
      <p:pic>
        <p:nvPicPr>
          <p:cNvPr id="176" name="Google Shape;176;p12"/>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77" name="Google Shape;177;p12"/>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81" name="Shape 181"/>
        <p:cNvGrpSpPr/>
        <p:nvPr/>
      </p:nvGrpSpPr>
      <p:grpSpPr>
        <a:xfrm>
          <a:off x="0" y="0"/>
          <a:ext cx="0" cy="0"/>
          <a:chOff x="0" y="0"/>
          <a:chExt cx="0" cy="0"/>
        </a:xfrm>
      </p:grpSpPr>
      <p:sp>
        <p:nvSpPr>
          <p:cNvPr id="182" name="Google Shape;182;p13"/>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panose="020F050202020403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Thank You!</a:t>
            </a:r>
            <a:endParaRPr lang="en-US" sz="4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3" name="Google Shape;183;p13"/>
          <p:cNvSpPr txBox="1"/>
          <p:nvPr>
            <p:ph type="body" idx="1"/>
          </p:nvPr>
        </p:nvSpPr>
        <p:spPr>
          <a:xfrm>
            <a:off x="1717040" y="-3286759"/>
            <a:ext cx="10972800" cy="4525963"/>
          </a:xfrm>
          <a:prstGeom prst="rect">
            <a:avLst/>
          </a:prstGeom>
          <a:noFill/>
          <a:ln>
            <a:noFill/>
          </a:ln>
        </p:spPr>
        <p:txBody>
          <a:bodyPr spcFirstLastPara="1" wrap="square" lIns="91425" tIns="45700" rIns="91425" bIns="45700" anchor="t" anchorCtr="0">
            <a:normAutofit/>
          </a:bodyPr>
          <a:lstStyle/>
          <a:p>
            <a:pPr marL="342900" lvl="0" indent="0" algn="l" rtl="0">
              <a:lnSpc>
                <a:spcPct val="100000"/>
              </a:lnSpc>
              <a:spcBef>
                <a:spcPts val="0"/>
              </a:spcBef>
              <a:spcAft>
                <a:spcPts val="0"/>
              </a:spcAft>
              <a:buSzPts val="1800"/>
              <a:buNone/>
            </a:pPr>
            <a:r>
              <a:rPr lang="en-US"/>
              <a:t>                                           </a:t>
            </a: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8494</Words>
  <Application>WPS Presentation</Application>
  <PresentationFormat/>
  <Paragraphs>228</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SimSun</vt:lpstr>
      <vt:lpstr>Wingdings</vt:lpstr>
      <vt:lpstr>Arial</vt:lpstr>
      <vt:lpstr>Calibri</vt:lpstr>
      <vt:lpstr>Times New Roman</vt:lpstr>
      <vt:lpstr>Barlow Bold</vt:lpstr>
      <vt:lpstr>Times New Roman</vt:lpstr>
      <vt:lpstr>Microsoft YaHei</vt:lpstr>
      <vt:lpstr>Arial Unicode MS</vt:lpstr>
      <vt:lpstr>Calibri</vt:lpstr>
      <vt:lpstr>Office Theme</vt:lpstr>
      <vt:lpstr>“SMART HOME AUTOMATION AND REAL-TIME MONITORING SYSTEM USING ARDUINO AND PYTHON”</vt:lpstr>
      <vt:lpstr>Introduction</vt:lpstr>
      <vt:lpstr>Objectives</vt:lpstr>
      <vt:lpstr>Literature Review / Background</vt:lpstr>
      <vt:lpstr>Methodology</vt:lpstr>
      <vt:lpstr>System Design / Architecture</vt:lpstr>
      <vt:lpstr>Implementation</vt:lpstr>
      <vt:lpstr>PROJECT MODULES</vt:lpstr>
      <vt:lpstr>PowerPoint 演示文稿</vt:lpstr>
      <vt:lpstr>PowerPoint 演示文稿</vt:lpstr>
      <vt:lpstr>Results &amp; Discussion</vt:lpstr>
      <vt:lpstr>CODE/OUTPUT</vt:lpstr>
      <vt:lpstr>Challenges &amp; Limitations</vt:lpstr>
      <vt:lpstr>Future Scope</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Parking Management System with IoT and Mobile App Integration”</dc:title>
  <dc:creator/>
  <cp:lastModifiedBy>Yeshvanth Ram</cp:lastModifiedBy>
  <cp:revision>15</cp:revision>
  <dcterms:created xsi:type="dcterms:W3CDTF">2025-03-27T01:14:00Z</dcterms:created>
  <dcterms:modified xsi:type="dcterms:W3CDTF">2026-02-11T05:07:13Z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F52199801687444F858FD529FEAB0366_13</vt:lpwstr>
  </property>
  <property fmtid="{D5CDD505-2E9C-101B-9397-08002B2CF9AE}" pid="3" name="KSOProductBuildVer">
    <vt:lpwstr>1033-12.2.0.23196</vt:lpwstr>
  </property>
</Properties>
</file>